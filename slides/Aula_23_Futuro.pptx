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O Engenheiro Químico</a:t>
            </a:r>
            <a:br/>
            <a:r>
              <a:t>do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CADCFC"/>
                </a:solidFill>
                <a:latin typeface="Calibri"/>
              </a:defRPr>
            </a:pPr>
            <a:r>
              <a:t>Aula 23 - Perfil T-shaped e plano de 12 meses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Tendências  •  Ferramentas  •  Radar  •  Carreira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Luis Vasconcelos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O EQ de Amanhã Já Está Sendo Formado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194560"/>
            <a:ext cx="43891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194560"/>
            <a:ext cx="438912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2860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38636"/>
                </a:solidFill>
                <a:latin typeface="Calibri"/>
              </a:defRPr>
            </a:pPr>
            <a:r>
              <a:t>+300%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47472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Vagas de EQ que pedem Python+ML cresceram em 5 anos (LinkedIn 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194560"/>
            <a:ext cx="43891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194560"/>
            <a:ext cx="438912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38636"/>
                </a:solidFill>
                <a:latin typeface="Calibri"/>
              </a:defRPr>
            </a:pPr>
            <a:r>
              <a:t>+40%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47472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Salário de EQ com competências de IA é maior (Glassdoor 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761"/>
                </a:solidFill>
                <a:latin typeface="Calibri"/>
              </a:defRPr>
            </a:pPr>
            <a:r>
              <a:t>Esses números mudam o que você faz HOJE?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"O EQ que sabe IA vai substituir</a:t>
            </a:r>
            <a:br/>
            <a:r>
              <a:t>os que não sabem? OU a IA vai</a:t>
            </a:r>
            <a:br/>
            <a:r>
              <a:t>AMPLIAR a demanda por</a:t>
            </a:r>
            <a:br/>
            <a:r>
              <a:t>engenheiros químicos?"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75488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Papéis rotineiros somem; novos emergem. Quem domina a ferramenta é mais valioso.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Perfil T-Shaped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914400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05740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COPA — amplitude (dados, IA, software, cloud)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CFC"/>
                </a:solidFill>
                <a:latin typeface="Calibri"/>
              </a:defRPr>
            </a:pPr>
            <a:r>
              <a:t>Python • ML • Docker • Git • SQL • Cloud • LLMs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108960"/>
            <a:ext cx="3657600" cy="23774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3108960"/>
            <a:ext cx="3657600" cy="36576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HASTE — profundidade EM 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5661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Fundamentos, termodinâmica,</a:t>
            </a:r>
            <a:br/>
            <a:r>
              <a:t>fenômenos, reatores, controle,</a:t>
            </a:r>
            <a:br/>
            <a:r>
              <a:t>operações unitárias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38636"/>
                </a:solidFill>
                <a:latin typeface="Calibri"/>
              </a:defRPr>
            </a:pPr>
            <a:r>
              <a:t>Haste fraca → tomba. Sem copa → não alcança o sol.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As Grandes Tendências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22860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🧬 Bio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6517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enzimas, bioprocessos,</a:t>
            </a:r>
            <a:br/>
            <a:r>
              <a:t>fermentação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011680"/>
            <a:ext cx="22860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86200" y="20116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⚡ Energia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6517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renováveis, CO₂,</a:t>
            </a:r>
            <a:br/>
            <a:r>
              <a:t>rede inteligente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22860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🧪 Materiais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517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design inverso,</a:t>
            </a:r>
            <a:br/>
            <a:r>
              <a:t>catalisadores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2011680"/>
            <a:ext cx="22860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400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🏭 Ind. 4.0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65176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gêmeos digitais,</a:t>
            </a:r>
            <a:br/>
            <a:r>
              <a:t>manutenção preditiva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21208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3035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O EQ que domina fundamentos + dados se posiciona em TODAS as tendências.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Kit de Ferramentas do EQ Moderno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37744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0848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análise, ML, automação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578608"/>
            <a:ext cx="237744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624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Git/GitHub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versão + portfólio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145536"/>
            <a:ext cx="237744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1912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186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ambientes reprodutíveis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712464"/>
            <a:ext cx="237744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7581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78561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bancos de processo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279392"/>
            <a:ext cx="237744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3251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35254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escalabilidade / MLops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846320"/>
            <a:ext cx="237744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892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MLflow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919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rastrear modelos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5413248"/>
            <a:ext cx="237744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54589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código + 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Carreiras Emergentes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9144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365760" cy="685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Eng. Dados de Processos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SQL, ETL, pipelines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788920"/>
            <a:ext cx="9144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2788920"/>
            <a:ext cx="365760" cy="6858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Cientista de Dados Industrial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Python, ML, SHAP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566160"/>
            <a:ext cx="9144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3566160"/>
            <a:ext cx="365760" cy="6858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Eng. Controle Avançado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MPC, LSTM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343400"/>
            <a:ext cx="9144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4343400"/>
            <a:ext cx="365760" cy="6858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Integrador de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deploy, DevOps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120640"/>
            <a:ext cx="9144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120640"/>
            <a:ext cx="365760" cy="6858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5212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Eng. Gêmeos Digitais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IIoT, híbrido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761"/>
                </a:solidFill>
                <a:latin typeface="Calibri"/>
              </a:defRPr>
            </a:pPr>
            <a:r>
              <a:t>🖥️ Prática: Radar de Competências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Autoavalie-se (1-5) em 6 dimensões: Fund. EQ, Python/Dados, ML/IA, Controle/Otim., Soft skills, Domínio Industrial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Plote seu radar (gráfico de teia)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Identifique 2 forças e 2 lacunas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Priorize a lacuna mais estratégica para os 12 meses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12064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212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Sua autoavaliação é honesta? Valide com notas, projetos, alguém de confiança.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Plano de 12 Meses (em Grupo)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Transformem os radares em plano coletivo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Cursos online (Coursera, Udemy) + projetos GitHub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Certificação + networking + mentoria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Compare com habilidades das vagas de EQ+IA (LinkedIn)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Onde está o descompasso?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93776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029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29922"/>
                </a:solidFill>
                <a:latin typeface="Calibri"/>
              </a:defRPr>
            </a:pPr>
            <a:r>
              <a:t>📋 Checklist: 2 lacunas • curso • projeto • certificação • marcos mensais • métrica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📋 Tarefa: Carta para Si Mesmo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Escreva: 'Hoje eu sei ___. Em 12 meses quero saber ___. Para isso vou ___'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Anexe seu radar de competências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Liste 3 marcos mensais para os primeiros 3 meses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Entregue documento (PDF/Google Docs) - Prazo: antes da Aula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93776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0292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29922"/>
                </a:solidFill>
                <a:latin typeface="Calibri"/>
              </a:defRPr>
            </a:pPr>
            <a:r>
              <a:t>🔍 NT: Pesquise 3 vagas reais EQ+IA. Onde está seu maior gap vs mercado?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ADCFC"/>
                </a:solidFill>
                <a:latin typeface="Calibri"/>
              </a:defRPr>
            </a:pPr>
            <a:r>
              <a:t>Próxima aula: Checkpoint &amp; Mentoria do projeto final!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