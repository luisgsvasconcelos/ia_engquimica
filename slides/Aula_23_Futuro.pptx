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O Engenheiro Químico</a:t>
            </a:r>
            <a:br/>
            <a:r>
              <a:t>do Futuro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500" b="0">
                <a:solidFill>
                  <a:srgbClr val="CADCFC"/>
                </a:solidFill>
                <a:latin typeface="Calibri"/>
              </a:defRPr>
            </a:pPr>
            <a:r>
              <a:t>Aula 23 - Perfil T-shaped e plano de 12 meses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B949E"/>
                </a:solidFill>
                <a:latin typeface="Calibri"/>
              </a:defRPr>
            </a:pPr>
            <a:r>
              <a:t>Tendências  •  Ferramentas  •  Radar  •  Carreira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49E"/>
                </a:solidFill>
                <a:latin typeface="Calibri"/>
              </a:defRPr>
            </a:pPr>
            <a:r>
              <a:t>Prof. [Seu Nome]  |  Duração: 100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O EQ de Amanhã Já Está Sendo Formado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194560"/>
            <a:ext cx="43891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194560"/>
            <a:ext cx="438912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2860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238636"/>
                </a:solidFill>
                <a:latin typeface="Calibri"/>
              </a:defRPr>
            </a:pPr>
            <a:r>
              <a:t>+300%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47472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Vagas de EQ que pedem Python+ML cresceram em 5 anos (LinkedIn 2024)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194560"/>
            <a:ext cx="43891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438912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4206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238636"/>
                </a:solidFill>
                <a:latin typeface="Calibri"/>
              </a:defRPr>
            </a:pPr>
            <a:r>
              <a:t>+40%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474720"/>
            <a:ext cx="4023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Calibri"/>
              </a:defRPr>
            </a:pPr>
            <a:r>
              <a:t>Salário de EQ com competências de IA é maior (Glassdoor 2024)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2761"/>
                </a:solidFill>
                <a:latin typeface="Calibri"/>
              </a:defRPr>
            </a:pPr>
            <a:r>
              <a:t>Esses números mudam o que você faz HOJE?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3716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8B949E"/>
                </a:solidFill>
                <a:latin typeface="Calibri"/>
              </a:defRPr>
            </a:pPr>
            <a:r>
              <a:t>Pergunta Desafio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0116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"O EQ que sabe IA vai substituir</a:t>
            </a:r>
            <a:br/>
            <a:r>
              <a:t>os que não sabem? OU a IA vai</a:t>
            </a:r>
            <a:br/>
            <a:r>
              <a:t>AMPLIAR a demanda por</a:t>
            </a:r>
            <a:br/>
            <a:r>
              <a:t>engenheiros químicos?"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75488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51206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ADCFC"/>
                </a:solidFill>
                <a:latin typeface="Calibri"/>
              </a:defRPr>
            </a:pPr>
            <a:r>
              <a:t>Papéis rotineiros somem; novos emergem. Quem domina a ferramenta é mais valioso.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Perfil T-Shaped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9144000" cy="10972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9144000" cy="365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205740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COPA — amplitude (dados, IA, software, cloud)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ADCFC"/>
                </a:solidFill>
                <a:latin typeface="Calibri"/>
              </a:defRPr>
            </a:pPr>
            <a:r>
              <a:t>Python • ML • Docker • Git • SQL • Cloud • LLMs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3108960"/>
            <a:ext cx="3657600" cy="237744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3657600" cy="36576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1546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HASTE — profundidade EM EQ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661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ADCFC"/>
                </a:solidFill>
                <a:latin typeface="Calibri"/>
              </a:defRPr>
            </a:pPr>
            <a:r>
              <a:t>Fundamentos, termodinâmica,</a:t>
            </a:r>
            <a:br/>
            <a:r>
              <a:t>fenômenos, reatores, controle,</a:t>
            </a:r>
            <a:br/>
            <a:r>
              <a:t>operações unitárias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38636"/>
                </a:solidFill>
                <a:latin typeface="Calibri"/>
              </a:defRPr>
            </a:pPr>
            <a:r>
              <a:t>Haste fraca → tomba. Sem copa → não alcança o sol.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761"/>
                </a:solidFill>
                <a:latin typeface="Calibri"/>
              </a:defRPr>
            </a:pPr>
            <a:r>
              <a:t>As Grandes Tendências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28600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🧬 Bio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enzimas, bioprocessos,</a:t>
            </a:r>
            <a:br/>
            <a:r>
              <a:t>fermentação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86200" y="2011680"/>
            <a:ext cx="228600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⚡ Energia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renováveis, CO₂,</a:t>
            </a:r>
            <a:br/>
            <a:r>
              <a:t>rede inteligente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011680"/>
            <a:ext cx="228600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🧪 Materiais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design inverso,</a:t>
            </a:r>
            <a:br/>
            <a:r>
              <a:t>catalisadores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011680"/>
            <a:ext cx="228600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2011680"/>
            <a:ext cx="228600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0574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🏭 Ind. 4.0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51760"/>
            <a:ext cx="2011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gêmeos digitais,</a:t>
            </a:r>
            <a:br/>
            <a:r>
              <a:t>manutenção preditiva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5212080"/>
            <a:ext cx="9144000" cy="7315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54480" y="530352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O EQ que domina fundamentos + dados se posiciona em TODAS as tendências.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Kit de Ferramentas do EQ Moderno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237744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20848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análise, ML, automação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578608"/>
            <a:ext cx="237744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62432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Git/GitHub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651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versão + portfólio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145536"/>
            <a:ext cx="2377440" cy="4572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19125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2186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ambientes reprodutíveis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3712464"/>
            <a:ext cx="237744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7581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785616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bancos de processo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4279392"/>
            <a:ext cx="2377440" cy="4572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32511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Cloud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4352544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escalabilidade / MLops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4846320"/>
            <a:ext cx="2377440" cy="4572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48920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MLflow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49194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rastrear modelos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5413248"/>
            <a:ext cx="2377440" cy="4572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545896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5486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49E"/>
                </a:solidFill>
                <a:latin typeface="Calibri"/>
              </a:defRPr>
            </a:pPr>
            <a:r>
              <a:t>código + docs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Carreiras Emergentes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2011680"/>
            <a:ext cx="9144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71600" y="2011680"/>
            <a:ext cx="365760" cy="6858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Eng. Dados de Processos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SQL, ETL, pipelines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788920"/>
            <a:ext cx="9144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2788920"/>
            <a:ext cx="365760" cy="685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Cientista de Dados Industrial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Python, ML, SHAP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566160"/>
            <a:ext cx="9144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71600" y="3566160"/>
            <a:ext cx="365760" cy="685800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Eng. Controle Avançado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MPC, LSTM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4343400"/>
            <a:ext cx="9144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71600" y="4343400"/>
            <a:ext cx="365760" cy="685800"/>
          </a:xfrm>
          <a:prstGeom prst="rect">
            <a:avLst/>
          </a:prstGeom>
          <a:solidFill>
            <a:srgbClr val="8957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20240" y="4434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Integrador de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deploy, DevOps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71600" y="5120640"/>
            <a:ext cx="91440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71600" y="5120640"/>
            <a:ext cx="365760" cy="68580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20240" y="52120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761"/>
                </a:solidFill>
                <a:latin typeface="Calibri"/>
              </a:defRPr>
            </a:pPr>
            <a:r>
              <a:t>Eng. Gêmeos Digitais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5257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IIoT, híbrido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E2761"/>
                </a:solidFill>
                <a:latin typeface="Calibri"/>
              </a:defRPr>
            </a:pPr>
            <a:r>
              <a:t>🖥️ Prática: Radar de Competências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Autoavalie-se (1-5) em 6 dimensões: Fund. EQ, Python/Dados, ML/IA, Controle/Otim., Soft skills, Domínio Industrial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Plote seu radar (gráfico de teia)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Identifique 2 forças e 2 lacunas</a:t>
            </a:r>
          </a:p>
          <a:p>
            <a:pPr>
              <a:spcAft>
                <a:spcPts val="1000"/>
              </a:spcAft>
              <a:defRPr sz="1700">
                <a:solidFill>
                  <a:srgbClr val="333333"/>
                </a:solidFill>
                <a:latin typeface="Calibri"/>
              </a:defRPr>
            </a:pPr>
            <a:r>
              <a:t>▸  Priorize a lacuna mais estratégica para os 12 meses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512064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52120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ADCFC"/>
                </a:solidFill>
                <a:latin typeface="Calibri"/>
              </a:defRPr>
            </a:pPr>
            <a:r>
              <a:t>Sua autoavaliação é honesta? Valide com notas, projetos, alguém de confiança.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Plano de 12 Meses (em Grupo)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201168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Transformem os radares em plano coletivo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Cursos online (Coursera, Udemy) + projetos GitHub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Certificação + networking + mentoria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Compare com habilidades das vagas de EQ+IA (LinkedIn)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Onde está o descompasso?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29922"/>
                </a:solidFill>
                <a:latin typeface="Calibri"/>
              </a:defRPr>
            </a:pPr>
            <a:r>
              <a:t>📋 Checklist: 2 lacunas • curso • projeto • certificação • marcos mensais • métrica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📋 Tarefa: Carta para Si Mesmo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2743200" cy="45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82880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Escreva: 'Hoje eu sei ___. Em 12 meses quero saber ___. Para isso vou ___'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Anexe seu radar de competências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Liste 3 marcos mensais para os primeiros 3 meses</a:t>
            </a:r>
          </a:p>
          <a:p>
            <a:pPr>
              <a:spcAft>
                <a:spcPts val="1000"/>
              </a:spcAft>
              <a:defRPr sz="1700">
                <a:solidFill>
                  <a:srgbClr val="CADCFC"/>
                </a:solidFill>
                <a:latin typeface="Calibri"/>
              </a:defRPr>
            </a:pPr>
            <a:r>
              <a:t>▸  Entregue documento (PDF/Google Docs) - Prazo: antes da Aula 24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937760"/>
            <a:ext cx="9144000" cy="6400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502920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29922"/>
                </a:solidFill>
                <a:latin typeface="Calibri"/>
              </a:defRPr>
            </a:pPr>
            <a:r>
              <a:t>🔍 NT: Pesquise 3 vagas reais EQ+IA. Onde está seu maior gap vs mercado?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CADCFC"/>
                </a:solidFill>
                <a:latin typeface="Calibri"/>
              </a:defRPr>
            </a:pPr>
            <a:r>
              <a:t>Próxima aula: Checkpoint &amp; Mentoria do projeto final!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