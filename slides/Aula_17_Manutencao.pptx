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Manutenção Preditiva</a:t>
            </a:r>
            <a:br/>
            <a:r>
              <a:t>e RUL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CADCFC"/>
                </a:solidFill>
                <a:latin typeface="Calibri"/>
              </a:defRPr>
            </a:pPr>
            <a:r>
              <a:t>Aula 17 — Estimativa de Vida Útil Remanescente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Incrustação  •  Threshold  •  Curva  •  ML  •  Incerteza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E2761"/>
                </a:solidFill>
                <a:latin typeface="Calibri"/>
              </a:defRPr>
            </a:pPr>
            <a:r>
              <a:t>Trocar Cedo ou Tarde?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"Você troca o óleo do carro por calendário (preventiva) ou só quando quebra (corretiva)? E se soubesse exatamente quando a falha chega?"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🔧  Corretiva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337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Quebrou →</a:t>
            </a:r>
            <a:br/>
            <a:r>
              <a:t>para a planta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74320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274320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📅  Preventiva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37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Troca por calendário</a:t>
            </a:r>
            <a:br/>
            <a:r>
              <a:t>(mesmo se estiver bom)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2743200"/>
            <a:ext cx="274320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2743200"/>
            <a:ext cx="27432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🔮  Preditiva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33756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Troca quando os dados</a:t>
            </a:r>
            <a:br/>
            <a:r>
              <a:t>indicam falha próxima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Preditiva = R$ milhões/ano em paradas evitadas + segurança.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"Se a incrustação acelera com o tempo</a:t>
            </a:r>
            <a:br/>
            <a:r>
              <a:t>(não-linear), um modelo LINEAR</a:t>
            </a:r>
            <a:br/>
            <a:r>
              <a:t>de degradação SUBESTIMA ou</a:t>
            </a:r>
            <a:br/>
            <a:r>
              <a:t>SUPERESTIMA a RUL?</a:t>
            </a:r>
            <a:br/>
            <a:r>
              <a:t>Qual o risco financeiro de cada erro?"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66344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029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💡 Linear = degradação retardada → superestima RUL. Falha inesperada!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Conceito de RUL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33333"/>
                </a:solidFill>
                <a:latin typeface="Consolas"/>
              </a:defRPr>
            </a:pPr>
            <a:r>
              <a:t>RUL(t) = t_falha − t     (tempo restante até cruzar o threshold)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3108960"/>
            <a:ext cx="2743200" cy="457200"/>
          </a:xfrm>
          <a:prstGeom prst="rect">
            <a:avLst/>
          </a:prstGeom>
          <a:solidFill>
            <a:srgbClr val="DA3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154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💥  Falha funcional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703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Variável de saúde cruza</a:t>
            </a:r>
            <a:br/>
            <a:r>
              <a:t>threshold crítico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10896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27432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154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📉  U(t) = U0·e^(−t/τ)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703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Curva de degradação</a:t>
            </a:r>
            <a:br/>
            <a:r>
              <a:t>(incrustação)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108960"/>
            <a:ext cx="27432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108960"/>
            <a:ext cx="27432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31546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⚖️ 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703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U_th = 0.6·U0</a:t>
            </a:r>
            <a:br/>
            <a:r>
              <a:t>(60% do valor inicial)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E2761"/>
                </a:solidFill>
                <a:latin typeface="Consolas"/>
              </a:defRPr>
            </a:pPr>
            <a:r>
              <a:t>RUL_exponencial(t) = −τ·ln(U_th/U0) − 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Três Abordagens para RUL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19456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194560"/>
            <a:ext cx="9144000" cy="3200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21284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① Curva de degradação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6060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U(t) = U0·e^(−t/τ). Poucos dados. Assume forma fixa.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56616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3566160"/>
            <a:ext cx="9144000" cy="3200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58444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② ML direto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77639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XGBoost: RUL = f(tempo, T, F, ciclos). Flexível, mais dados.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493776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4937760"/>
            <a:ext cx="9144000" cy="3200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95604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③ Híbrida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4924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Física (Kern-Seaton) + ML p/ parâmetros. Melhor dos dois.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669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8636"/>
                </a:solidFill>
                <a:latin typeface="Calibri"/>
              </a:defRPr>
            </a:pPr>
            <a:r>
              <a:t>3 meses de dados → só a curva exponencial é viável.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Incerteza: Tão Importante Quanto o Valor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RUL = 3 meses ± 15 dias → PERMITE planejar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parada, comprar peças, alocar equipe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RUL = 3 meses sem banda → NADA a planejar</a:t>
            </a:r>
          </a:p>
          <a:p>
            <a:pPr>
              <a:spcAft>
                <a:spcPts val="1000"/>
              </a:spcAft>
              <a:defRPr sz="2000">
                <a:solidFill>
                  <a:srgbClr val="CADCFC"/>
                </a:solidFill>
                <a:latin typeface="Calibri"/>
              </a:defRPr>
            </a:pPr>
            <a:r>
              <a:t>▸  Sempre calcule incerteza (bootstrap, quantis, IC)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10972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920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29922"/>
                </a:solidFill>
                <a:latin typeface="Calibri"/>
              </a:defRPr>
            </a:pPr>
            <a:r>
              <a:t>📌  Erro de manutenção: FALSO POSITIVO (troca cedo, custo 50k) vs</a:t>
            </a:r>
            <a:br/>
            <a:r>
              <a:t>FALSO NEGATIVO (falha não-programada, custo 500k). O falso negativo é 10× caro!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Pipeline RUL — 5 Passos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210312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488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21488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90D9"/>
                </a:solidFill>
                <a:latin typeface="Calibri"/>
              </a:defRPr>
            </a:pPr>
            <a:r>
              <a:t>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4883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Definir falha funcional (U_th = 0.6·U0)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80360"/>
            <a:ext cx="457200" cy="54864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260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9260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90D9"/>
                </a:solidFill>
                <a:latin typeface="Calibri"/>
              </a:defRPr>
            </a:pPr>
            <a:r>
              <a:t>RUL histórico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RUL_i = t* − t_i para cada ponto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657600"/>
            <a:ext cx="457200" cy="54864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03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29922"/>
                </a:solidFill>
                <a:latin typeface="Calibri"/>
              </a:defRPr>
            </a:pPr>
            <a: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03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XGBoost/RF para predizer RUL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4434840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055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Validar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4805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MAE (erro médio em meses)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5212079"/>
            <a:ext cx="457200" cy="5486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28800" y="525779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25779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8636"/>
                </a:solidFill>
                <a:latin typeface="Calibri"/>
              </a:defRPr>
            </a:pPr>
            <a:r>
              <a:t>Incerteza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2577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IC 95% por quantis/bootstrap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🖥️  Prática: RUL do Trocador E-101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Carregue trocador_degradacao.csv (12 meses de U)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Defina threshold = 60% de U0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Ajuste U(t)=U0·e^(−t/τ) com scipy.optimize.curve_fit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Calcule RUL exponencial para cada mês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Treine XGBoost para predizer RUL (features: mes, vazão, T, ciclos)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Compare MAE dos dois métodos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84632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937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38636"/>
                </a:solidFill>
                <a:latin typeface="Calibri"/>
              </a:defRPr>
            </a:pPr>
            <a:r>
              <a:t>📌  Gabarito: RUL no mês 6 ~ 4 meses. Para desenhar a troca, some a incerteza.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2761"/>
                </a:solidFill>
                <a:latin typeface="Calibri"/>
              </a:defRPr>
            </a:pPr>
            <a:r>
              <a:t>  Threshold e Decisão — 4 Grupos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Método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MAE (meses)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0" y="187451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RUL mês 6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37744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Curva exponencial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~0.8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~4.2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2926080"/>
            <a:ext cx="9144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2971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971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~0.5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971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38636"/>
                </a:solidFill>
                <a:latin typeface="Calibri"/>
              </a:defRPr>
            </a:pPr>
            <a:r>
              <a:t>~3.9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840480"/>
            <a:ext cx="228600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0" y="38404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389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Threshold</a:t>
            </a:r>
            <a:br/>
            <a:r>
              <a:t>50%% de U0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  <a:latin typeface="Calibri"/>
              </a:defRPr>
            </a:pPr>
            <a:r>
              <a:t>Custo total esperado?</a:t>
            </a:r>
            <a:br/>
            <a:r>
              <a:t>Troca=50k, falha=500k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3840480"/>
            <a:ext cx="228600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31920" y="38404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5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59" y="4389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Threshold</a:t>
            </a:r>
            <a:br/>
            <a:r>
              <a:t>60%% de U0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59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  <a:latin typeface="Calibri"/>
              </a:defRPr>
            </a:pPr>
            <a:r>
              <a:t>Custo total esperado?</a:t>
            </a:r>
            <a:br/>
            <a:r>
              <a:t>Troca=50k, falha=500k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840480"/>
            <a:ext cx="228600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8404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7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79" y="4389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Threshold</a:t>
            </a:r>
            <a:br/>
            <a:r>
              <a:t>70%% de U0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79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  <a:latin typeface="Calibri"/>
              </a:defRPr>
            </a:pPr>
            <a:r>
              <a:t>Custo total esperado?</a:t>
            </a:r>
            <a:br/>
            <a:r>
              <a:t>Troca=50k, falha=500k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59" y="3840480"/>
            <a:ext cx="228600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2559" y="38404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3999" y="3886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3999" y="43891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Threshold</a:t>
            </a:r>
            <a:br/>
            <a:r>
              <a:t>80%% de U0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3999" y="50292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B949E"/>
                </a:solidFill>
                <a:latin typeface="Calibri"/>
              </a:defRPr>
            </a:pPr>
            <a:r>
              <a:t>Custo total esperado?</a:t>
            </a:r>
            <a:br/>
            <a:r>
              <a:t>Troca=50k, falha=500k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852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761"/>
                </a:solidFill>
                <a:latin typeface="Calibri"/>
              </a:defRPr>
            </a:pPr>
            <a:r>
              <a:t>Qual threshold minimiza o custo total esperado?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 Tarefa: RUL de Bomba Centrífuga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bomba_vibracao.csv: 6 meses de vibração até a falha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Features: RMS vibração (mm/s), temp mancal, vazão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Treine 3 modelos: Linear, XGBoost, LSTM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Compare MAE — qual funciona com degradação não-linear?</a:t>
            </a:r>
          </a:p>
          <a:p>
            <a:pPr>
              <a:spcAft>
                <a:spcPts val="1000"/>
              </a:spcAft>
              <a:defRPr sz="1800">
                <a:solidFill>
                  <a:srgbClr val="CADCFC"/>
                </a:solidFill>
                <a:latin typeface="Calibri"/>
              </a:defRPr>
            </a:pPr>
            <a:r>
              <a:t>▸  Entregue via Colab — Prazo: antes da Aula 18 (7 dias)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754880"/>
            <a:ext cx="9144000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8463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 Bônus NT: IC 95% por bootstrap (100 amostras). A incerteza aumenta perto da falha? (+20%)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ADCFC"/>
                </a:solidFill>
                <a:latin typeface="Calibri"/>
              </a:defRPr>
            </a:pPr>
            <a:r>
              <a:t>Próxima aula: Detecção de Anomalias — PCA, Isolation Forest, Autoencoders! 🕵️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