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Interpretabilidade e</a:t>
            </a:r>
            <a:br/>
            <a:r>
              <a:t>Explicabilidade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19 - Por que o modelo disse isso?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SHAP  •  Feature Importance  •  Validação Física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Luis Vasconcelos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O Caso do Lote Rejeitado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O XGBoost previu rendimento em 91.3%. Mas POR QUE? Qual sensor empurrou a predição?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Modelo preciso mas SILENCIOSO (caixa-preta)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IA rejeitou lote por qualidade; operador perguntou 'por quê?'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Sem resposta -&gt; desligou o modelo, voltou ao manual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Fábrica perdeu ~R$200 mil/mês de economia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39496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4406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ADCFC"/>
                </a:solidFill>
                <a:latin typeface="Calibri"/>
              </a:defRPr>
            </a:pPr>
            <a:r>
              <a:t>“O modelo precisa apenas ACERTAR, ou também EXPLICAR?”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"Se o SHAP diz que T reator contribuiu</a:t>
            </a:r>
            <a:br/>
            <a:r>
              <a:t>POSITIVAMENTE para o rendimento, mas a</a:t>
            </a:r>
            <a:br/>
            <a:r>
              <a:t>termodinâmica diz que T acima do ótimo</a:t>
            </a:r>
            <a:br/>
            <a:r>
              <a:t>REDUZ conversão... o modelo está errado?</a:t>
            </a:r>
            <a:br/>
            <a:r>
              <a:t>Ou o SHAP capturou uma INTERAÇÃO</a:t>
            </a:r>
            <a:br/>
            <a:r>
              <a:t>não-óbvia?"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75488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A física é o árbitro final: se conflita, o modelo está sob suspeita.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Feature Importance Global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3891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MDI (Gini)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5176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Queda média de impureza nas árvores</a:t>
            </a:r>
            <a:br/>
            <a:r>
              <a:t>• Favorece cardinalidade alta</a:t>
            </a:r>
            <a:br/>
            <a:r>
              <a:t>• NÃO mostra sinal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43891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Permutation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Embaralha coluna e mede queda de score</a:t>
            </a:r>
            <a:br/>
            <a:r>
              <a:t>• Mais confiável (efeito real)</a:t>
            </a:r>
            <a:br/>
            <a:r>
              <a:t>• Custosa; sensível a correlacionadas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48640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577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Ambas são GLOBAIS - não explicam uma predição específica (para isso, SHAP local).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SHAP - Shapley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Contribuição marginal justa de cada feature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Média sobre TODAS as ordenações possíveis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Orçamento fechado: soma dos SHAP = predição − média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Explica uma predição individual (LOCAL)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8636"/>
                </a:solidFill>
                <a:latin typeface="Consolas"/>
              </a:defRPr>
            </a:pPr>
            <a:r>
              <a:t>Σ ϕj = ŷ − ȳ     (nada some, nada aparece do nada)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Os 3 Gráficos do SHAP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2743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743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Importância global + direção (cor = valor da feature)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011680"/>
            <a:ext cx="2743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201168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SHAP vs valor da feature -&gt; linear, não-linear ou limiar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011680"/>
            <a:ext cx="2743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201168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Waterfall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Uma predição decomposta; barras empurram p/ cima ou baixo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30352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53492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Se T reator alta -&gt; SHAP positivo até o ótimo, depois negativo (exotérmico), a física está representada.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Pipeline XAI - 6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2199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@1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21991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Treinar 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834639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86207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@2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62071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TreeExplainer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474720"/>
            <a:ext cx="457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50215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@3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502151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Summary plot (global)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114800"/>
            <a:ext cx="457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1422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@4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14223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Dependence (T,P)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754879"/>
            <a:ext cx="457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7823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@5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782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Waterfall (2 predições)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394960"/>
            <a:ext cx="457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422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@6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4223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Validar física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explainer = shap.TreeExplainer(modelo);  shap_values = explainer(X_test)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761"/>
                </a:solidFill>
                <a:latin typeface="Calibri"/>
              </a:defRPr>
            </a:pPr>
            <a:r>
              <a:t>🖥️ Prática: SHAP no Reator Exotérmico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Treine XGBoost (rendimento = f(T,P,C_feed,vazão))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TreeExplainer -&gt; summary plot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Dependence de T e P - C sinO?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Waterfall de 1 predição certa e 1 errada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Conclua: modelo é fisicamente consistente?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12064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212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Gabarito: T SHAP + até ~105°C depois - (sino);  P +;  C_feed -;  vazão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Diagnóstico com Waterfall - 4 Grupos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Cada grupo investiga 1 predição SUSPEITA (erro &gt; 5%) de viscosidade de resina. O waterfall revela a causa.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8B949E"/>
                </a:solidFill>
                <a:latin typeface="Calibri"/>
              </a:defRPr>
            </a:pPr>
            <a:r>
              <a:t>▸  Feature dominante no erro?</a:t>
            </a:r>
          </a:p>
          <a:p>
            <a:pPr>
              <a:spcAft>
                <a:spcPts val="1000"/>
              </a:spcAft>
              <a:defRPr sz="1800">
                <a:solidFill>
                  <a:srgbClr val="8B949E"/>
                </a:solidFill>
                <a:latin typeface="Calibri"/>
              </a:defRPr>
            </a:pPr>
            <a:r>
              <a:t>▸  Sinal vs lei física (conversão alta -&gt; viscosidade alta -&gt; SHAP +)</a:t>
            </a:r>
          </a:p>
          <a:p>
            <a:pPr>
              <a:spcAft>
                <a:spcPts val="1000"/>
              </a:spcAft>
              <a:defRPr sz="1800">
                <a:solidFill>
                  <a:srgbClr val="8B949E"/>
                </a:solidFill>
                <a:latin typeface="Calibri"/>
              </a:defRPr>
            </a:pPr>
            <a:r>
              <a:t>▸  Classifique: overfitting / data leakage / colinearidade / interação</a:t>
            </a:r>
          </a:p>
          <a:p>
            <a:pPr>
              <a:spcAft>
                <a:spcPts val="1000"/>
              </a:spcAft>
              <a:defRPr sz="1800">
                <a:solidFill>
                  <a:srgbClr val="8B949E"/>
                </a:solidFill>
                <a:latin typeface="Calibri"/>
              </a:defRPr>
            </a:pPr>
            <a:r>
              <a:t>▸  Proponha 1 correção (drop coluna, mais dados, regularizar)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39496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54406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29922"/>
                </a:solidFill>
                <a:latin typeface="Calibri"/>
              </a:defRPr>
            </a:pPr>
            <a:r>
              <a:t>💡 Se timestamp/id_lote tem SHAP alto = DATA LEAKAGE -&gt; dropar e re-treinar.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761"/>
                </a:solidFill>
                <a:latin typeface="Calibri"/>
              </a:defRPr>
            </a:pPr>
            <a:r>
              <a:t>📋 Tarefa: Relatório SHAP da Coluna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Use coluna_destilacao_30dias.csv (pureza)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Summary plot + dependence (T_top, R_refluxo, vazão)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Waterfall de 2 predições (certa e errada)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Conclua consistência física (R_refluxo alto -&gt; pureza -&gt; SHAP +)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Diagnostique inconsistências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Entregue via Colab - Prazo: antes da Aula 20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93776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983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🔍 NT: Compare SHAP vs permutation importance p/ T e R. Divergência = correlacionadas?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761"/>
                </a:solidFill>
                <a:latin typeface="Calibri"/>
              </a:defRPr>
            </a:pPr>
            <a:r>
              <a:t>Próxima aula: Gêmeos Digitais, IIoT e LLMs!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