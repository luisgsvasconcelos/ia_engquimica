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LSTM para</a:t>
            </a:r>
            <a:br/>
            <a:r>
              <a:t>Predição Dinâmica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14 — A rede que lembra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Memória interna  •  Gates  •  Multi-passo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 Problema da MLP + Lags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 MLP não tem memória — precisa de lags explícitos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 Se θ = 30 min, precisa de 30 features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 Maldição da dimensionalidade!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 Número de lags é FIXO (definido manualmente)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▸  Para θ longo ou variável, vira um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6177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Solução LSTM: memória INTERNA (c_t) que aprende</a:t>
            </a:r>
            <a:br/>
            <a:r>
              <a:t>quantos passos de história importam — sem lags explícitos.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"A LSTM com 10 células de memória tem</a:t>
            </a:r>
            <a:br/>
            <a:r>
              <a:t>MENOS parâmetros que uma MLP com 30 lags,</a:t>
            </a:r>
            <a:br/>
            <a:r>
              <a:t>mas performance igual ou melhor.</a:t>
            </a:r>
            <a:br/>
            <a:r>
              <a:t>Onde está a inteligência que economiza</a:t>
            </a:r>
            <a:br/>
            <a:r>
              <a:t>parâmetros?"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Pense: a LSTM reutiliza o estado — não redescobre cada lag.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A LSTM — Como um Operador Experiente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Calibri"/>
              </a:defRPr>
            </a:pPr>
            <a:r>
              <a:t>"Ele não olha 30 manômetros separados — desenvolveu uma MEMÓRIA INTERNA:</a:t>
            </a:r>
            <a:br/>
            <a:r>
              <a:t>'a última vez que a vazão caiu, a composição demorou 30 min para responder'."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4572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4572000" cy="36576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0358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🧠  Forget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520439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 que ESQUECER da memória anterior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017520"/>
            <a:ext cx="4572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017520"/>
            <a:ext cx="4572000" cy="36576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358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✍️  Input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520439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 que ADICIONAR de novo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663440"/>
            <a:ext cx="4572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4663440"/>
            <a:ext cx="4572000" cy="36576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6817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📤  Output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166359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 que PASSAR para a saída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663440"/>
            <a:ext cx="4572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663440"/>
            <a:ext cx="457200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6817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📦  Cell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166359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 memória de longo prazo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 Funcionamento da Célula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ADCFC"/>
                </a:solidFill>
                <a:latin typeface="Consolas"/>
              </a:defRPr>
            </a:pPr>
            <a:r>
              <a:t>c_t = f_t ⊙ c_{t-1} + i_t ⊙ c̃_t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957E5"/>
                </a:solidFill>
                <a:latin typeface="Consolas"/>
              </a:defRPr>
            </a:pPr>
            <a:r>
              <a:t>h_t = o_t ⊙ tanh(c_t)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f_t = σ(W_f·[h_{t-1}, x_t] + b_f)   (idem i_t, o_t, c̃_t via σ/tanh)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8636"/>
                </a:solidFill>
                <a:latin typeface="Calibri"/>
              </a:defRPr>
            </a:pPr>
            <a:r>
              <a:t>No Keras, isso é UMA linha: layers.LSTM(64)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Preparando os Dados Sequenciais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Ao invés de (X_t, y_t) estático, usamos janelas temporal: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86868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ADCFC"/>
                </a:solidFill>
                <a:latin typeface="Consolas"/>
              </a:defRPr>
            </a:pPr>
            <a:r>
              <a:t>(x_{t-29}, ..., x_t)  →  y_{t+1}        (janela de 30 timesteps)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Formato 3D para a LSTM: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572000"/>
            <a:ext cx="8686800" cy="7315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(amostras, timesteps, features)   ex: (970, 30, 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Validação Temporal (não aleatória!)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Séries temporais: split por POSIÇÃO, não aleatório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70% treino → 15% validação → 15% teste (em ordem)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Evita DATA LEAKAGE (treino vendo o futuro)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Teste = período que o modelo NUNCA viu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6177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tr = int(0.7·n); va = int(0.85·n)</a:t>
            </a:r>
            <a:br/>
            <a:r>
              <a:t>X_tr = X[:tr];  X_te = X[va:]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Pipeline LSTM no Keras — 5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488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1488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Calibri"/>
              </a:defRPr>
            </a:pPr>
            <a:r>
              <a:t>Sequências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1488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timeseries_dataset / sliding_window_view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88036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926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260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Calibri"/>
              </a:defRPr>
            </a:pPr>
            <a:r>
              <a:t>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9260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LSTM(64) → Dropout → Dense(1)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657600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922"/>
                </a:solidFill>
                <a:latin typeface="Calibri"/>
              </a:defRPr>
            </a:pPr>
            <a:r>
              <a:t>Compilar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03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Adam(0.001), loss='mse'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43484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805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Treinar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4805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EarlyStopping(patience=10)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212079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2577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25779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Avaliar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2577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compare com MLP + lags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Gabarito: LSTM vs MLP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RMSE 1 passo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RMSE 10 passos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87451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Parâmetros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46888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MLP + 30 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~0.06-0.08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~0.20-0.30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~2000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108960"/>
            <a:ext cx="9144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154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8636"/>
                </a:solidFill>
                <a:latin typeface="Calibri"/>
              </a:defRPr>
            </a:pPr>
            <a:r>
              <a:t>LSTM (64)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154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8636"/>
                </a:solidFill>
                <a:latin typeface="Calibri"/>
              </a:defRPr>
            </a:pPr>
            <a:r>
              <a:t>~0.04-0.06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8636"/>
                </a:solidFill>
                <a:latin typeface="Calibri"/>
              </a:defRPr>
            </a:pPr>
            <a:r>
              <a:t>~0.12-0.18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154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8636"/>
                </a:solidFill>
                <a:latin typeface="Calibri"/>
              </a:defRPr>
            </a:pPr>
            <a:r>
              <a:t>~17000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LSTM supera em 1 passo e MUITO em multi-passo (erro acumula menos).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84632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892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⚠️  Mas NÃO é sempre superior: processo estático ou atraso</a:t>
            </a:r>
            <a:br/>
            <a:r>
              <a:t>pequeno → MLP+lags empata/ganha (menos parâmetros, mais rápida).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 Tarefa: LSTM para Coluna de Destilação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Use coluna_destilacao_30dias.csv (composição como target)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Converta em sequências (window = 60 min)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Treine LSTM(64)→LSTM(32)→Dense(1)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Treine MLP com 60 lags (baseline)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Compare RMSE 1 passo e 10 passos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Plote predição para 2h de operação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15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92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 Bônus NT: LSTM 1 camada vs 2 camadas (+ Dropout) — qual para multi-passo?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Otimização de Processos com IA!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