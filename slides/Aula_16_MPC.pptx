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Controle Avançado:</a:t>
            </a:r>
            <a:br/>
            <a:r>
              <a:t>PID vs 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16 — Modelos de IA na malha de controle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PID  •  MPC  •  Horizonte  •  ML+MPC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E se as Condições Mudarem?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Aula 15: otimizamos um ponto. Mas a planta opera em contínua mudança.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4389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PID (retrovisor)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Overshoot ~20%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Oscila, estabiliza em ~30 min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Reage ao erro passado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Simples e robusto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4389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MPC (para-brisa)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8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Suave, sem overshoot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Estabiliza em ~15 min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Planeja a trajetória futura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Otimização em tempo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"Qual você prefere para controlar um reator?"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"O MPC enxerga 30 min à frente.</a:t>
            </a:r>
            <a:br/>
            <a:r>
              <a:t>Se o modelo de predição erra em 10%,</a:t>
            </a:r>
            <a:br/>
            <a:r>
              <a:t>o MPC ainda acerta o set-point?</a:t>
            </a:r>
            <a:br/>
            <a:r>
              <a:t>O que acontece com a estabilidade?"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A realimentação corrige a cada passo; o horizonte deslizante redireciona.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Controle PID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Consolas"/>
              </a:defRPr>
            </a:pPr>
            <a:r>
              <a:t>u(t) = Kp·e(t) + Ki·∫e(t)dt + Kd·de/dt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· Kp·e(t)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Proporcional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Reage ao erro atual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01752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301752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· Ki·∫e 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Integral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Elimina offset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01752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3017520"/>
            <a:ext cx="27432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· Kd·de/dt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Derivativo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Antecipa tendência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30352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394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Limitação: REATIVO — não sabe o que vai acontecer.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Algoritmo MPC (Otimização em Tempo Real)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y_k (saída atual)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Predizer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ŷ_{k+1} ... ŷ_{k+N} (modelo)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Otimizar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947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min Σ(y_sp − ŷ)² + λΣΔu²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262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719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19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Aplicar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71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só a PRIMEIRA ação u_k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Repetir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k → k+1, janela desliza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MPC com Preditor de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O preditor pode ser XGBoost, LSTM ou FOPDT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ML captura NÃO-LINEARIDADES que o linear perde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CUIDADO: ML deve ser rápido o suficiente por instante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Realimentação a cada passo corrige erros do modelo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MPC bem ajustado reduz variabilidade 30-50% vs PID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📌  A cada amostragem: predizer → otimizar → aplicar a 1ª ação → repetir.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🖥️  Prática: Simular PID vs MPC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CSTR com modelo FOPDT (Kp=0.1, tau=10, theta=3)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Parte A: sintonize PID (Ziegler-Nichols)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Parte B: MPC conceitual com scipy.optimize.minimize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Aplique mudança de setpoint 50% → 60%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Meça: overshoot, tempo de estabilização, esforço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DBEE5"/>
                </a:solidFill>
                <a:latin typeface="Consolas"/>
              </a:defRPr>
            </a:pPr>
            <a:r>
              <a:t>def cost(u_seq):</a:t>
            </a:r>
            <a:br/>
            <a:r>
              <a:t>    y_pred = model.predict(y_current, u_seq, N)</a:t>
            </a:r>
            <a:br/>
            <a:r>
              <a:t>    return np.sum((setpoint - y_pred)**2) + λ·ΣΔu²</a:t>
            </a:r>
            <a:br/>
            <a:br/>
            <a:r>
              <a:t>res = minimize(cost, u0, method='SLSQP')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Gabarito: PID vs MPC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Métrica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MPC (N=10)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Overshoot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~20%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&lt; 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154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Estabilização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~30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3154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~15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749039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Esforço de 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8636"/>
                </a:solidFill>
                <a:latin typeface="Calibri"/>
              </a:defRPr>
            </a:pPr>
            <a:r>
              <a:t>maior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8636"/>
                </a:solidFill>
                <a:latin typeface="Calibri"/>
              </a:defRPr>
            </a:pPr>
            <a:r>
              <a:t>menor (suave)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MPC é superior: menos overshoot, mais rápido, mais suave.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Horizonte de Predição — 4 Grupos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 = 5</a:t>
            </a:r>
            <a:br/>
            <a:r>
              <a:t>M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Aplique perturbação</a:t>
            </a:r>
            <a:br/>
            <a:r>
              <a:t>degrau na alimentação</a:t>
            </a:r>
            <a:br/>
            <a:r>
              <a:t>em t=50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 = 10</a:t>
            </a:r>
            <a:br/>
            <a:r>
              <a:t>M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Aplique perturbação</a:t>
            </a:r>
            <a:br/>
            <a:r>
              <a:t>degrau na alimentação</a:t>
            </a:r>
            <a:br/>
            <a:r>
              <a:t>em t=50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 = 20</a:t>
            </a:r>
            <a:br/>
            <a:r>
              <a:t>M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Aplique perturbação</a:t>
            </a:r>
            <a:br/>
            <a:r>
              <a:t>degrau na alimentação</a:t>
            </a:r>
            <a:br/>
            <a:r>
              <a:t>em t=50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 = 10</a:t>
            </a:r>
            <a:br/>
            <a:r>
              <a:t>M =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Aplique perturbação</a:t>
            </a:r>
            <a:br/>
            <a:r>
              <a:t>degrau na alimentação</a:t>
            </a:r>
            <a:br/>
            <a:r>
              <a:t>em t=50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🧠  Horizonte maior = resposta mais suave mas mais lenta. Qual o N ótimo?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📋  Tarefa: MPC com Modelo 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Implemente MPC usando o modelo LSTM (Aula 14) como preditor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Controle a temperatura de um reator CSTR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Compare com PID — meça o tempo de cada otimização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O LSTM roda em tempo real no MPC?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Entregue via Colab — Prazo: antes da Aula 17 (7 dias)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 Bônus NT: Restrição de slew rate Δu_max=2 e T_max=200°C — o MPC respeita? O PID consegue? (+20%)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Próxima aula: Manutenção Preditiva e RUL — prever quando o equipamento vai falhar! 🛠️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