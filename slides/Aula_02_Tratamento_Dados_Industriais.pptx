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Estrutura e Tratamento de</a:t>
            </a:r>
            <a:br/>
            <a:r>
              <a:t>Dados Industriais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02 — Limpando dados reais de planta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Outliers  •  Dados faltantes  •  Ruído  •  Pipeline de limpeza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Dados Reais São Imperfeitos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Qual desses gráficos você confiaria para treinar um modelo?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37744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423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 — Dados Crus (direto do PIMS)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Picos abruptos (125 °C, 45 °C)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Lacunas (sensor offline)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Ruído excessivo (vibração)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Drift lento (descalibração)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37744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37744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 — Dados Tratados (prontos pro modelo)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Sem picos espúrios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NaNs preenchidos (forward fill)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Ruído suavizado (média móvel)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Sinal limpo e confiável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⚠️  "Dados industriais são como amostras de laboratório — se a amostra está contaminada, a análise não vale nada."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"Se 30% dos dados de um sensor estão</a:t>
            </a:r>
            <a:br/>
            <a:r>
              <a:t>corrompidos, você descarta o sensor</a:t>
            </a:r>
            <a:br/>
            <a:r>
              <a:t>inteiro ou tenta recuperar?</a:t>
            </a:r>
            <a:br/>
            <a:r>
              <a:t>Qual o limite aceitável?"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 no trade-off: descartar dados = perder informação. Manter dados ruins = modelo enviesado.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Os 3 Inimigos dos Dados Industriais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🔴  Dados Faltantes (NaN)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Sensor offline</a:t>
            </a:r>
            <a:br/>
            <a:r>
              <a:t>Manutenção</a:t>
            </a:r>
            <a:br/>
            <a:r>
              <a:t>Falha de comunicação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🟡  Outliers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Picos espúrios (mau contato)</a:t>
            </a:r>
            <a:br/>
            <a:r>
              <a:t>Eventos reais (válvula de alívio)</a:t>
            </a:r>
            <a:br/>
            <a:r>
              <a:t>Erros de transcrição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🔵  Ruído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Vibração mecânica</a:t>
            </a:r>
            <a:br/>
            <a:r>
              <a:t>Interferência elétrica</a:t>
            </a:r>
            <a:br/>
            <a:r>
              <a:t>Resolução do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Cada tipo de anomalia exige uma técnica diferente de tratamento.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Detectando Outliers — Duas Abordagens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3657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Z-Score  (distribuição normal)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onsolas"/>
              </a:defRPr>
            </a:pPr>
            <a:r>
              <a:t>Zᵢ = (xᵢ − μ) / σ</a:t>
            </a:r>
            <a:br/>
            <a:br/>
            <a:r>
              <a:t>Outlier se |Zᵢ| &gt;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8404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Bom para dados simétricos e gaussianos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Sensível a outliers extremos (μ e σ distorcem)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Use quando a variável tem distribuição conhecida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3657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rPr dirty="0"/>
              <a:t>IQR  (</a:t>
            </a:r>
            <a:r>
              <a:rPr dirty="0" err="1"/>
              <a:t>robusto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suposições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onsolas"/>
              </a:defRPr>
            </a:pPr>
            <a:r>
              <a:t>IQR = Q3 − Q1</a:t>
            </a:r>
            <a:br/>
            <a:br/>
            <a:r>
              <a:t>Limites: [Q1 − 1.5·IQR, Q3 + 1.5·IQR]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Robusto — mediana não é afetada por outliers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Funciona para qualquer distribuição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Recomendado para dados de processo industriais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👉  Na prática: use IQR para dados de planta. Reserve Z-score para variáveis com distribuição comprovadamente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03BE20-C2C4-1B69-397D-BCDED0B8B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958" y="496101"/>
            <a:ext cx="7530215" cy="566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A3B04-70A1-5A81-8777-14A7D1B3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23" y="1225486"/>
            <a:ext cx="8910797" cy="38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7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Tratando NaN e Suavizando Ruído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Dados Faltantes (NaN)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&lt;5% missing → dropna() (descartar linhas)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Série temporal → ffill() (forward fill)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Lacunas curtas → interpolate()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&gt;30% missing → repensar: sensor confiável?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Suavização de Ruído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Média móvel: rolling(window).mean()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Filtro mediano: rolling(window).median()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Janela pequena (5-10): preserva dinâmica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Janela grande (50+): destrói sinal útil!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⚠️  Cuidado: suavizar demais é como colocar óculos com grau errado — você enxerga menos, não mais.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de Limpeza — 7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df.info()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Identificar tipos e 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df.isnull().sum()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Quantificar missing por coluna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10896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df.ffill()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Preencher NaN (série temporal)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74903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df['col'].plot.box()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Inspeção visual de outliers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38912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IQR / Z-score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Calcular limites e criar máscara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0292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df.loc[mask] = 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Substituir outliers pela mediana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66927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5714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714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onsolas"/>
              </a:defRPr>
            </a:pPr>
            <a:r>
              <a:t>rolling(5).mean()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149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Suavizar ruído com média móvel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🖥️  Prática: Limpando Dados do Trocador de Calor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Cenário: Sensor de T_saída com leituras estranhas. Limpe os dados!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59152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Carregue trocador_calor_24h_sujo.csv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Diagnostique NaN → preencha com ffill()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Detecte outliers com IQR em T_saida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Substitua outliers pela mediana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Suavize com rolling(5).mean()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Plote antes e depois lado a 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19472"/>
            <a:ext cx="9144000" cy="1737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8463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DBEE5"/>
                </a:solidFill>
                <a:latin typeface="Consolas"/>
              </a:defRPr>
            </a:pPr>
            <a:r>
              <a:rPr dirty="0"/>
              <a:t># Pipeline de </a:t>
            </a:r>
            <a:r>
              <a:rPr dirty="0" err="1"/>
              <a:t>limpeza</a:t>
            </a:r>
            <a:br>
              <a:rPr dirty="0"/>
            </a:br>
            <a:r>
              <a:rPr dirty="0"/>
              <a:t>Q1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'].quantile(0.25)</a:t>
            </a:r>
            <a:br>
              <a:rPr dirty="0"/>
            </a:br>
            <a:r>
              <a:rPr dirty="0"/>
              <a:t>Q3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'].quantile(0.75)</a:t>
            </a:r>
            <a:br>
              <a:rPr dirty="0"/>
            </a:br>
            <a:r>
              <a:rPr dirty="0"/>
              <a:t>IQR = Q3 - Q1</a:t>
            </a:r>
            <a:br>
              <a:rPr dirty="0"/>
            </a:br>
            <a:r>
              <a:rPr dirty="0"/>
              <a:t>outliers = 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 &lt; Q1-1.5*IQR) | (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 &gt; Q3+1.5*IQR)</a:t>
            </a:r>
            <a:br>
              <a:rPr dirty="0"/>
            </a:br>
            <a:r>
              <a:rPr dirty="0" err="1"/>
              <a:t>df.loc</a:t>
            </a:r>
            <a:r>
              <a:rPr dirty="0"/>
              <a:t>[outliers, '</a:t>
            </a:r>
            <a:r>
              <a:rPr dirty="0" err="1"/>
              <a:t>T_saida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'].median()</a:t>
            </a:r>
            <a:br>
              <a:rPr dirty="0"/>
            </a:b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T_saida_suave</a:t>
            </a:r>
            <a:r>
              <a:rPr dirty="0"/>
              <a:t>'] = </a:t>
            </a:r>
            <a:r>
              <a:rPr dirty="0" err="1"/>
              <a:t>df</a:t>
            </a:r>
            <a:r>
              <a:rPr dirty="0"/>
              <a:t>['</a:t>
            </a:r>
            <a:r>
              <a:rPr dirty="0" err="1"/>
              <a:t>T_saida</a:t>
            </a:r>
            <a:r>
              <a:rPr dirty="0"/>
              <a:t>'].rolling(5).mean()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🔍  Diagnóstico Comparativo — 4 Cenários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06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15% NaN em rajadas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Arquivo: variante_A</a:t>
            </a:r>
            <a:br/>
            <a:r>
              <a:t>4 falhas de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23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Técnica adequada?</a:t>
            </a:r>
            <a:br/>
            <a:r>
              <a:t>2) Impacto se usar a errada?</a:t>
            </a:r>
            <a:br/>
            <a:r>
              <a:t>3) 1 min de apresentação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5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2606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Outlier extremo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Arquivo: variante_B</a:t>
            </a:r>
            <a:br/>
            <a:r>
              <a:t>T_saida = 250 °C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59" y="4023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Técnica adequada?</a:t>
            </a:r>
            <a:br/>
            <a:r>
              <a:t>2) Impacto se usar a errada?</a:t>
            </a:r>
            <a:br/>
            <a:r>
              <a:t>3) 1 min de apresentação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606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Ruído alta freq.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Arquivo: variante_C</a:t>
            </a:r>
            <a:br/>
            <a:r>
              <a:t>±5 °C de amplitude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023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Técnica adequada?</a:t>
            </a:r>
            <a:br/>
            <a:r>
              <a:t>2) Impacto se usar a errada?</a:t>
            </a:r>
            <a:br/>
            <a:r>
              <a:t>3) 1 min de apresentação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2011680"/>
            <a:ext cx="22860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3999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2606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Drift lento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108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Arquivo: variante_D</a:t>
            </a:r>
            <a:br/>
            <a:r>
              <a:t>0.5 °C/h descalibração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9" y="40233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1) Técnica adequada?</a:t>
            </a:r>
            <a:br/>
            <a:r>
              <a:t>2) Impacto se usar a errada?</a:t>
            </a:r>
            <a:br/>
            <a:r>
              <a:t>3) 1 min de apresentação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29922"/>
                </a:solidFill>
                <a:latin typeface="Calibri"/>
              </a:defRPr>
            </a:pPr>
            <a:r>
              <a:t>🧠  Desafio: O outlier é evento real ou falso positivo? Como diferenciar sem perguntar ao operador?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Meu Pipeline de Limpeza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Baixe</a:t>
            </a:r>
            <a:r>
              <a:rPr dirty="0"/>
              <a:t> um dataset </a:t>
            </a:r>
            <a:r>
              <a:rPr dirty="0" err="1"/>
              <a:t>público</a:t>
            </a:r>
            <a:r>
              <a:rPr dirty="0"/>
              <a:t> de </a:t>
            </a:r>
            <a:r>
              <a:rPr dirty="0" err="1"/>
              <a:t>processo</a:t>
            </a:r>
            <a:r>
              <a:rPr dirty="0"/>
              <a:t> e </a:t>
            </a:r>
            <a:r>
              <a:rPr dirty="0" err="1"/>
              <a:t>corrompa</a:t>
            </a:r>
            <a:r>
              <a:rPr dirty="0"/>
              <a:t> </a:t>
            </a:r>
            <a:r>
              <a:rPr dirty="0" err="1"/>
              <a:t>intencionalmente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Adicione</a:t>
            </a:r>
            <a:r>
              <a:rPr dirty="0"/>
              <a:t>: 2% </a:t>
            </a:r>
            <a:r>
              <a:rPr dirty="0" err="1"/>
              <a:t>NaN</a:t>
            </a:r>
            <a:r>
              <a:rPr dirty="0"/>
              <a:t>, 3 outliers, </a:t>
            </a:r>
            <a:r>
              <a:rPr dirty="0" err="1"/>
              <a:t>ruído</a:t>
            </a:r>
            <a:r>
              <a:rPr dirty="0"/>
              <a:t> </a:t>
            </a:r>
            <a:r>
              <a:rPr dirty="0" err="1"/>
              <a:t>gaussiano</a:t>
            </a:r>
            <a:r>
              <a:rPr dirty="0"/>
              <a:t> (σ = 2%)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Crie</a:t>
            </a:r>
            <a:r>
              <a:rPr dirty="0"/>
              <a:t> notebook: </a:t>
            </a:r>
            <a:r>
              <a:rPr dirty="0" err="1"/>
              <a:t>diagnóstico</a:t>
            </a:r>
            <a:r>
              <a:rPr dirty="0"/>
              <a:t> → </a:t>
            </a:r>
            <a:r>
              <a:rPr dirty="0" err="1"/>
              <a:t>limpeza</a:t>
            </a:r>
            <a:r>
              <a:rPr dirty="0"/>
              <a:t> → antes/</a:t>
            </a:r>
            <a:r>
              <a:rPr dirty="0" err="1"/>
              <a:t>depois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Escreva</a:t>
            </a:r>
            <a:r>
              <a:rPr dirty="0"/>
              <a:t>: "Se </a:t>
            </a:r>
            <a:r>
              <a:rPr dirty="0" err="1"/>
              <a:t>eu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tivesse</a:t>
            </a:r>
            <a:r>
              <a:rPr dirty="0"/>
              <a:t> </a:t>
            </a:r>
            <a:r>
              <a:rPr dirty="0" err="1"/>
              <a:t>limpo</a:t>
            </a:r>
            <a:r>
              <a:rPr dirty="0"/>
              <a:t>, meu </a:t>
            </a:r>
            <a:r>
              <a:rPr dirty="0" err="1"/>
              <a:t>modelo</a:t>
            </a:r>
            <a:r>
              <a:rPr dirty="0"/>
              <a:t> seria ___ </a:t>
            </a:r>
            <a:r>
              <a:rPr dirty="0" err="1"/>
              <a:t>porque</a:t>
            </a:r>
            <a:r>
              <a:rPr dirty="0"/>
              <a:t> ___"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Entregue</a:t>
            </a:r>
            <a:r>
              <a:rPr dirty="0"/>
              <a:t> via </a:t>
            </a:r>
            <a:r>
              <a:rPr dirty="0" err="1"/>
              <a:t>Colab</a:t>
            </a:r>
            <a:r>
              <a:rPr dirty="0"/>
              <a:t> — </a:t>
            </a:r>
            <a:r>
              <a:rPr dirty="0" err="1"/>
              <a:t>Prazo</a:t>
            </a:r>
            <a:r>
              <a:rPr dirty="0"/>
              <a:t>: antes da Aula </a:t>
            </a:r>
            <a:r>
              <a:rPr lang="pt-BR" dirty="0"/>
              <a:t>4</a:t>
            </a:r>
            <a:r>
              <a:rPr dirty="0"/>
              <a:t> (7 </a:t>
            </a:r>
            <a:r>
              <a:rPr dirty="0" err="1"/>
              <a:t>dias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Critérios: Diagnóstico (25%) • Pipeline justificado (25%) • Gráficos (25%) • Reflexão (25%)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🧠 Bônus NT: Compare Z-score vs IQR — um detecta eventos que o outro perde? Por quê? (+20%)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Engenharia de Features — lags, médias móveis, taxas de variação.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1067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Vasconcelos</cp:lastModifiedBy>
  <cp:revision>2</cp:revision>
  <dcterms:created xsi:type="dcterms:W3CDTF">2013-01-27T09:14:16Z</dcterms:created>
  <dcterms:modified xsi:type="dcterms:W3CDTF">2026-09-16T16:36:10Z</dcterms:modified>
  <cp:category/>
</cp:coreProperties>
</file>