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Gêmeos Digitais,</a:t>
            </a:r>
            <a:br/>
            <a:r>
              <a:t>IIoT e IA Generativa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ADCFC"/>
                </a:solidFill>
                <a:latin typeface="Calibri"/>
              </a:defRPr>
            </a:pPr>
            <a:r>
              <a:t>Aula 20 - O espelho vivo da planta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93192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Digital Twin  •  OPC-UA/MQTT  •  Drift  •  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Prof. [Seu Nome]  |  Duração: 100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761"/>
                </a:solidFill>
                <a:latin typeface="Calibri"/>
              </a:defRPr>
            </a:pPr>
            <a:r>
              <a:t>O Espelho Digital da Planta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E se você pudesse testar qualquer mudança sem arriscar nada? E se o modelo aprendesse continuamente?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743200"/>
            <a:ext cx="438912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743200"/>
            <a:ext cx="438912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7889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Shell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474720"/>
            <a:ext cx="4023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reduziu paradas ~40% com DT de refinaria</a:t>
            </a:r>
            <a:br/>
            <a:br/>
            <a:r>
              <a:t>Impl R$2M | Econ R$5M/ano | payback 5m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743200"/>
            <a:ext cx="438912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2743200"/>
            <a:ext cx="438912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7889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Siemens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474720"/>
            <a:ext cx="4023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DT de gás de turbinas</a:t>
            </a:r>
            <a:br/>
            <a:br/>
            <a:r>
              <a:t>Manutenção preditiva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852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Tudo que aprendemos (EDA, ML, híbrido, LSTM, SHAP) → Gêmeo Digital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Calibri"/>
              </a:defRPr>
            </a:pPr>
            <a:r>
              <a:t>Pergunta Desafio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"Um twin não é cópia perfeita — é um modelo</a:t>
            </a:r>
            <a:br/>
            <a:r>
              <a:t>que se atualiza com dados em tempo real.</a:t>
            </a:r>
            <a:br/>
            <a:r>
              <a:t>Se planta e twin discordam por &gt;5%</a:t>
            </a:r>
            <a:br/>
            <a:r>
              <a:t>por mais de 1 h, quem está errado:</a:t>
            </a:r>
            <a:br/>
            <a:r>
              <a:t>o SENSOR, o MODELO ou a PLANTA?"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75488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5120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Como decidir se o twin precisa ser retreinado? (drift)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Os 4 Pilares do Gêmeo Digital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22860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22860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0574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🧠 Modelo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65176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ML/híbrido/primeiros princípios</a:t>
            </a:r>
            <a:br/>
            <a:r>
              <a:t>que representa o processo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6200" y="2011680"/>
            <a:ext cx="22860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86200" y="2011680"/>
            <a:ext cx="2286000" cy="45720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77639" y="20574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📡 Dados tempo 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65176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IIoT (OPC-UA/MQTT)</a:t>
            </a:r>
            <a:br/>
            <a:r>
              <a:t>medições contínuas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011680"/>
            <a:ext cx="22860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011680"/>
            <a:ext cx="2286000" cy="4572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574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🔁 Loop de atualização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65176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Retreino periódico</a:t>
            </a:r>
            <a:br/>
            <a:r>
              <a:t>reajusta aos dados novos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5400" y="2011680"/>
            <a:ext cx="22860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15400" y="2011680"/>
            <a:ext cx="228600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20574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🎮 Simulação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65176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O que acontece se</a:t>
            </a:r>
            <a:br/>
            <a:r>
              <a:t>T +5°C? / U cair?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530352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53949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ADCFC"/>
                </a:solidFill>
                <a:latin typeface="Calibri"/>
              </a:defRPr>
            </a:pPr>
            <a:r>
              <a:t>Twin vivo = simulador de voo que aprende com cada novo dado.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Protocolos IIoT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4389120" cy="3108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011680"/>
            <a:ext cx="4389120" cy="45720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05740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OPC-UA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651760"/>
            <a:ext cx="4023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ADCFC"/>
                </a:solidFill>
                <a:latin typeface="Calibri"/>
              </a:defRPr>
            </a:pPr>
            <a:r>
              <a:t>• Padrão industrial, seguro, interoperável</a:t>
            </a:r>
            <a:br/>
            <a:r>
              <a:t>• ~80% das plantas</a:t>
            </a:r>
            <a:br/>
            <a:r>
              <a:t>• PLC, histórico, tag variável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011680"/>
            <a:ext cx="4389120" cy="3108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438912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5740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MQTT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51760"/>
            <a:ext cx="4023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ADCFC"/>
                </a:solidFill>
                <a:latin typeface="Calibri"/>
              </a:defRPr>
            </a:pPr>
            <a:r>
              <a:t>• Leve, publish/subscribe</a:t>
            </a:r>
            <a:br/>
            <a:r>
              <a:t>• Baixa largura de banda</a:t>
            </a:r>
            <a:br/>
            <a:r>
              <a:t>• Sensores simples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5486400"/>
            <a:ext cx="914400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5577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Edge: inferência local (~ms)  |  Cloud: treino pesado + dashboard (~s)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761"/>
                </a:solidFill>
                <a:latin typeface="Calibri"/>
              </a:defRPr>
            </a:pPr>
            <a:r>
              <a:t>Planta → Gêmeo: O Caminho dos Dados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377440"/>
            <a:ext cx="2011680" cy="2194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377440"/>
            <a:ext cx="201168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Sensores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1752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4-20 mA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377440"/>
            <a:ext cx="2011680" cy="2194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0" y="2377440"/>
            <a:ext cx="2011680" cy="45720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2423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PLC/RTU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301752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OPC-UA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2377440"/>
            <a:ext cx="2011680" cy="2194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0" y="2377440"/>
            <a:ext cx="2011680" cy="4572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59" y="2423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301752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limpeza+nova inferência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2377440"/>
            <a:ext cx="2011680" cy="2194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80960" y="2377440"/>
            <a:ext cx="201168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423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301752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DT + dashboard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0" y="2377440"/>
            <a:ext cx="2011680" cy="2194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58400" y="2377440"/>
            <a:ext cx="201168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0" y="2423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Atuador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301752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OPC-UA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3108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76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3108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76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3108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76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3108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76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Sensores T_ent, T_sai, vazão, ΔP  |  frequência 1s-1min  |  modelo híbrido (U=ML+balanço)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Validando o Twin: Detecção de Drift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ADCFC"/>
                </a:solidFill>
                <a:latin typeface="Consolas"/>
              </a:defRPr>
            </a:pPr>
            <a:r>
              <a:t>MAE_janela(t) &gt; θ  por  Δt &gt; τ  →  alerta de retreino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8B949E"/>
                </a:solidFill>
                <a:latin typeface="Calibri"/>
              </a:defRPr>
            </a:pPr>
            <a:r>
              <a:t>▸  θ = limiar de erro (ex: 5% da medição)</a:t>
            </a:r>
          </a:p>
          <a:p>
            <a:pPr>
              <a:spcAft>
                <a:spcPts val="1000"/>
              </a:spcAft>
              <a:defRPr sz="1700">
                <a:solidFill>
                  <a:srgbClr val="8B949E"/>
                </a:solidFill>
                <a:latin typeface="Calibri"/>
              </a:defRPr>
            </a:pPr>
            <a:r>
              <a:t>▸  τ = tempo de persistência (ex: 1 h)</a:t>
            </a:r>
          </a:p>
          <a:p>
            <a:pPr>
              <a:spcAft>
                <a:spcPts val="1000"/>
              </a:spcAft>
              <a:defRPr sz="1700">
                <a:solidFill>
                  <a:srgbClr val="8B949E"/>
                </a:solidFill>
                <a:latin typeface="Calibri"/>
              </a:defRPr>
            </a:pPr>
            <a:r>
              <a:t>▸  Separa ruído transitório de drift persistente</a:t>
            </a:r>
          </a:p>
          <a:p>
            <a:pPr>
              <a:spcAft>
                <a:spcPts val="1000"/>
              </a:spcAft>
              <a:defRPr sz="1700">
                <a:solidFill>
                  <a:srgbClr val="8B949E"/>
                </a:solidFill>
                <a:latin typeface="Calibri"/>
              </a:defRPr>
            </a:pPr>
            <a:r>
              <a:t>▸  Aula 20: U 800→400 por incrustação; MAE sobe de 0.1 a &gt;4°C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02920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51206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8636"/>
                </a:solidFill>
                <a:latin typeface="Calibri"/>
              </a:defRPr>
            </a:pPr>
            <a:r>
              <a:t>Alerta cruzado em ~h14 → retreinar U / alarme de incrustação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2761"/>
                </a:solidFill>
                <a:latin typeface="Calibri"/>
              </a:defRPr>
            </a:pPr>
            <a:r>
              <a:t>🖥️ Prática: Após o Gêmeo do Trocador E-101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Identifique os sensores (T_ent, T_sai, vazão, ΔP)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Escolha o modelo: híbrido (U=ML+balanço) ou só ML?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Defina frequência de atualização/retreino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Calcule MAE 1h real vs twin — quando cruza o limiar?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Defina ação: alerta incrustação / retreino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5120640"/>
            <a:ext cx="91440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52120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ADCFC"/>
                </a:solidFill>
                <a:latin typeface="Calibri"/>
              </a:defRPr>
            </a:pPr>
            <a:r>
              <a:t>Gabarito: U 800→400 W/m2K; limiar MAE&gt;5% por &gt;1h; drift cruza em ~h14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LLM como Assistente Técnico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194560"/>
            <a:ext cx="9144000" cy="1463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37744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Prompt: "Com base nos dados de 24h do trocador E-101,</a:t>
            </a:r>
            <a:br/>
            <a:r>
              <a:t>escreva um parágrafo diagnosticando a condição operacional."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02336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8B949E"/>
                </a:solidFill>
                <a:latin typeface="Calibri"/>
              </a:defRPr>
            </a:pPr>
            <a:r>
              <a:t>▸  Avalie a resposta: alucinou? correta? útil?</a:t>
            </a:r>
          </a:p>
          <a:p>
            <a:pPr>
              <a:spcAft>
                <a:spcPts val="1000"/>
              </a:spcAft>
              <a:defRPr sz="1700">
                <a:solidFill>
                  <a:srgbClr val="8B949E"/>
                </a:solidFill>
                <a:latin typeface="Calibri"/>
              </a:defRPr>
            </a:pPr>
            <a:r>
              <a:t>▸  Risco: dados confidenciais em API pública</a:t>
            </a:r>
          </a:p>
          <a:p>
            <a:pPr>
              <a:spcAft>
                <a:spcPts val="1000"/>
              </a:spcAft>
              <a:defRPr sz="1700">
                <a:solidFill>
                  <a:srgbClr val="8B949E"/>
                </a:solidFill>
                <a:latin typeface="Calibri"/>
              </a:defRPr>
            </a:pPr>
            <a:r>
              <a:t>▸  Controle obrigatório: REVISÃO HUMANA (anti-alucinação)</a:t>
            </a:r>
          </a:p>
          <a:p>
            <a:pPr>
              <a:spcAft>
                <a:spcPts val="1000"/>
              </a:spcAft>
              <a:defRPr sz="1700">
                <a:solidFill>
                  <a:srgbClr val="8B949E"/>
                </a:solidFill>
                <a:latin typeface="Calibri"/>
              </a:defRPr>
            </a:pPr>
            <a:r>
              <a:t>▸  O LLM complementa, NÃO substitui o engenheiro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761"/>
                </a:solidFill>
                <a:latin typeface="Calibri"/>
              </a:defRPr>
            </a:pPr>
            <a:r>
              <a:t>📋 Tarefa: Documento de 1 Página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Proponha um gêmeo digital de um processo (CSTR, coluna, trocador)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Inclua: diagrama sensores→edge→nuvem→modelo→ação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Sensores (grandezas, range, protocolo) + modelo (ML/híbrido)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Frequência de retreino + benefício estimado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Validação por drift (θ, τ) e ação disparada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Entregue PDF/Markdown - Prazo: antes da Aula 21 (7 dias)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5029200"/>
            <a:ext cx="914400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5074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🔍 NT: Seção Validação do Twin — θ e τ justificados + trade-off falso alarme × alarme perdido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761"/>
                </a:solidFill>
                <a:latin typeface="Calibri"/>
              </a:defRPr>
            </a:pPr>
            <a:r>
              <a:t>Próxima aula: Implantação e Governança de modelos!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