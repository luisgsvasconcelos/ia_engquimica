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Calibri"/>
              </a:defRPr>
            </a:pPr>
            <a:r>
              <a:t>Machine Learning</a:t>
            </a:r>
            <a:br/>
            <a:r>
              <a:t>Supervisionado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017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CADCFC"/>
                </a:solidFill>
                <a:latin typeface="Calibri"/>
              </a:defRPr>
            </a:pPr>
            <a:r>
              <a:t>Aula 05 — Da regressão linear ao XGBoost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393192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42062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B949E"/>
                </a:solidFill>
                <a:latin typeface="Calibri"/>
              </a:defRPr>
            </a:pPr>
            <a:r>
              <a:t>Regressão Linear  •  Árvore de Decisão  •  Random Forest  •  XGBoost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486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Calibri"/>
              </a:defRPr>
            </a:pPr>
            <a:r>
              <a:t>Prof. [Seu Nome]  |  Duração: 100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E2761"/>
                </a:solidFill>
                <a:latin typeface="Calibri"/>
              </a:defRPr>
            </a:pPr>
            <a:r>
              <a:t>Ensinando o Computador a Prever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Se eu te disser T_top = 78,5 °C, quanto você chuta que é a composição?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2468880"/>
            <a:ext cx="2743200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71600" y="2468880"/>
            <a:ext cx="2743200" cy="45720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40" y="25146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Chute manual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301752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Baseado na intuição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393192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B949E"/>
                </a:solidFill>
                <a:latin typeface="Calibri"/>
              </a:defRPr>
            </a:pPr>
            <a:r>
              <a:t>Visualmente:</a:t>
            </a:r>
            <a:br/>
            <a:r>
              <a:t>Reta suave</a:t>
            </a:r>
            <a:br/>
            <a:r>
              <a:t>vs.</a:t>
            </a:r>
            <a:br/>
            <a:r>
              <a:t>Degraus retos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2468880"/>
            <a:ext cx="2743200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0" y="2468880"/>
            <a:ext cx="2743200" cy="4572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25146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Regressão Linear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01752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Reta otimizada (MSE mínimo)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93192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B949E"/>
                </a:solidFill>
                <a:latin typeface="Calibri"/>
              </a:defRPr>
            </a:pPr>
            <a:r>
              <a:t>Visualmente:</a:t>
            </a:r>
            <a:br/>
            <a:r>
              <a:t>Reta suave</a:t>
            </a:r>
            <a:br/>
            <a:r>
              <a:t>vs.</a:t>
            </a:r>
            <a:br/>
            <a:r>
              <a:t>Degraus retos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0" y="2468880"/>
            <a:ext cx="2743200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0" y="2468880"/>
            <a:ext cx="2743200" cy="45720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0" y="25146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Árvore de Decisão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301752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Regras binárias em degraus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79" y="393192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B949E"/>
                </a:solidFill>
                <a:latin typeface="Calibri"/>
              </a:defRPr>
            </a:pPr>
            <a:r>
              <a:t>Visualmente:</a:t>
            </a:r>
            <a:br/>
            <a:r>
              <a:t>Reta suave</a:t>
            </a:r>
            <a:br/>
            <a:r>
              <a:t>vs.</a:t>
            </a:r>
            <a:br/>
            <a:r>
              <a:t>Degraus retos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5486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2761"/>
                </a:solidFill>
                <a:latin typeface="Calibri"/>
              </a:defRPr>
            </a:pPr>
            <a:r>
              <a:t>"Modelo fenomenológico: y = f(X) de leis físicas. ML: y = f(X) aprendida dos dados."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1371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8B949E"/>
                </a:solidFill>
                <a:latin typeface="Calibri"/>
              </a:defRPr>
            </a:pPr>
            <a:r>
              <a:t>Pergunta Desafio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01168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"Se uma árvore de decisão pode desenhar</a:t>
            </a:r>
            <a:br/>
            <a:r>
              <a:t>degraus para ajustar qualquer curva,</a:t>
            </a:r>
            <a:br/>
            <a:r>
              <a:t>por que não usamos árvores gigantes</a:t>
            </a:r>
            <a:br/>
            <a:r>
              <a:t>com profundidade 1000?"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0" y="438912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4754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ADCFC"/>
                </a:solidFill>
                <a:latin typeface="Calibri"/>
              </a:defRPr>
            </a:pPr>
            <a:r>
              <a:t>💡 Pense: a árvore memoriza os dados de treino? E quando chega um dado novo?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761"/>
                </a:solidFill>
                <a:latin typeface="Calibri"/>
              </a:defRPr>
            </a:pPr>
            <a:r>
              <a:t>Quatro Algoritmos, Uma Missão: Predizer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1828800"/>
            <a:ext cx="4572000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1828800"/>
            <a:ext cx="4572000" cy="41148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1847088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  Regressão Linear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286000"/>
            <a:ext cx="4206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ŷ = w₁x₁ + w₂x₂ + ... + b</a:t>
            </a:r>
            <a:br/>
            <a:br/>
            <a:r>
              <a:t>Encontra pesos que minimizam</a:t>
            </a:r>
            <a:br/>
            <a:r>
              <a:t>o erro quadrático (MSE).</a:t>
            </a:r>
            <a:br/>
            <a:br/>
            <a:r>
              <a:t>Interpretação física:</a:t>
            </a:r>
            <a:br/>
            <a:r>
              <a:t>cada wᵢ = impacto de xᵢ em y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828800"/>
            <a:ext cx="4572000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1828800"/>
            <a:ext cx="4572000" cy="41148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847088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🌳  Árvore de Decisão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286000"/>
            <a:ext cx="4206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Fluxograma de perguntas binárias.</a:t>
            </a:r>
            <a:br/>
            <a:br/>
            <a:r>
              <a:t>Ex: T_top &gt; 78,5°C?</a:t>
            </a:r>
            <a:br/>
            <a:r>
              <a:t>  Sim → região A (média = 0.88)</a:t>
            </a:r>
            <a:br/>
            <a:r>
              <a:t>  Não → região B (média = 0.90)</a:t>
            </a:r>
            <a:br/>
            <a:br/>
            <a:r>
              <a:t>Predição = valor médio da região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71600" y="4206240"/>
            <a:ext cx="4572000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371600" y="4206240"/>
            <a:ext cx="4572000" cy="41148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3040" y="4224527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🌲  Random Forest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663440"/>
            <a:ext cx="4206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Muitas árvores treinadas em</a:t>
            </a:r>
            <a:br/>
            <a:r>
              <a:t>dados aleatórios (bootstrap).</a:t>
            </a:r>
            <a:br/>
            <a:br/>
            <a:r>
              <a:t>Predição = média de TODAS</a:t>
            </a:r>
            <a:br/>
            <a:r>
              <a:t>as árvores.</a:t>
            </a:r>
            <a:br/>
            <a:br/>
            <a:r>
              <a:t>Reduz overfitting.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4206240"/>
            <a:ext cx="4572000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0" y="4206240"/>
            <a:ext cx="4572000" cy="411480"/>
          </a:xfrm>
          <a:prstGeom prst="rect">
            <a:avLst/>
          </a:prstGeom>
          <a:solidFill>
            <a:srgbClr val="8957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4224527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  XGBoost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663440"/>
            <a:ext cx="4206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Árvores treinadas SEQUENCIALMENTE.</a:t>
            </a:r>
            <a:br/>
            <a:br/>
            <a:r>
              <a:t>Cada árvore nova corrige</a:t>
            </a:r>
            <a:br/>
            <a:r>
              <a:t>os erros da anterior.</a:t>
            </a:r>
            <a:br/>
            <a:br/>
            <a:r>
              <a:t>Gradient descent no espaço</a:t>
            </a:r>
            <a:br/>
            <a:r>
              <a:t>de modelos.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Analogia: Cada Modelo É uma Ferramenta Diferente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800" y="2011680"/>
            <a:ext cx="2286000" cy="7315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20240" y="205740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Regressão Linear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2057400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B949E"/>
                </a:solidFill>
                <a:latin typeface="Calibri"/>
              </a:defRPr>
            </a:pPr>
            <a:r>
              <a:t>Traça uma reta reta. Simples, interpretável, mas limitada.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3017520"/>
            <a:ext cx="2286000" cy="73152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20240" y="30632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Árvore de Decisão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3063240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B949E"/>
                </a:solidFill>
                <a:latin typeface="Calibri"/>
              </a:defRPr>
            </a:pPr>
            <a:r>
              <a:t>Recorta regiões retangulares. Flexível, mas pode overfit.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0" y="4023360"/>
            <a:ext cx="2286000" cy="73152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20240" y="406908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Random Forest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4069080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B949E"/>
                </a:solidFill>
                <a:latin typeface="Calibri"/>
              </a:defRPr>
            </a:pPr>
            <a:r>
              <a:t>Muitos estênceis votam. Robusto, generalize bem.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28800" y="5029200"/>
            <a:ext cx="2286000" cy="731520"/>
          </a:xfrm>
          <a:prstGeom prst="rect">
            <a:avLst/>
          </a:prstGeom>
          <a:solidFill>
            <a:srgbClr val="8957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20240" y="50749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XGBoost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5074920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B949E"/>
                </a:solidFill>
                <a:latin typeface="Calibri"/>
              </a:defRPr>
            </a:pPr>
            <a:r>
              <a:t>Cada membro aprende com o erro do anterior. Poderoso.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5943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ADCFC"/>
                </a:solidFill>
                <a:latin typeface="Calibri"/>
              </a:defRPr>
            </a:pPr>
            <a:r>
              <a:t>Na engenharia química: escolha a ferramenta certa para o problema certo.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Pipeline de ML em 6 Passos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800" y="2011680"/>
            <a:ext cx="457200" cy="5029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205740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05740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ADCFC"/>
                </a:solidFill>
                <a:latin typeface="Calibri"/>
              </a:defRPr>
            </a:pPr>
            <a:r>
              <a:t>Split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2057400"/>
            <a:ext cx="6858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Consolas"/>
              </a:defRPr>
            </a:pPr>
            <a:r>
              <a:t>train_test_split(X, y, test_size=0.2)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0" y="2697480"/>
            <a:ext cx="457200" cy="5029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274320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74320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ADCFC"/>
                </a:solidFill>
                <a:latin typeface="Calibri"/>
              </a:defRPr>
            </a:pPr>
            <a:r>
              <a:t>Instanciar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2743200"/>
            <a:ext cx="6858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Consolas"/>
              </a:defRPr>
            </a:pPr>
            <a:r>
              <a:t>model = LinearRegression()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28800" y="3383280"/>
            <a:ext cx="457200" cy="5029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0" y="342900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342900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ADCFC"/>
                </a:solidFill>
                <a:latin typeface="Calibri"/>
              </a:defRPr>
            </a:pPr>
            <a:r>
              <a:t>Treinar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3429000"/>
            <a:ext cx="6858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Consolas"/>
              </a:defRPr>
            </a:pPr>
            <a:r>
              <a:t>model.fit(X_train, y_train)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0" y="4069080"/>
            <a:ext cx="457200" cy="502920"/>
          </a:xfrm>
          <a:prstGeom prst="rect">
            <a:avLst/>
          </a:prstGeom>
          <a:solidFill>
            <a:srgbClr val="8957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28800" y="411480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411480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ADCFC"/>
                </a:solidFill>
                <a:latin typeface="Calibri"/>
              </a:defRPr>
            </a:pPr>
            <a:r>
              <a:t>Predizer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4114800"/>
            <a:ext cx="6858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Consolas"/>
              </a:defRPr>
            </a:pPr>
            <a:r>
              <a:t>y_pred = model.predict(X_test)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28800" y="4754880"/>
            <a:ext cx="457200" cy="502920"/>
          </a:xfrm>
          <a:prstGeom prst="rect">
            <a:avLst/>
          </a:prstGeom>
          <a:solidFill>
            <a:srgbClr val="8957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28800" y="480060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2468880" y="480060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ADCFC"/>
                </a:solidFill>
                <a:latin typeface="Calibri"/>
              </a:defRPr>
            </a:pPr>
            <a:r>
              <a:t>Avaliar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0" y="4800600"/>
            <a:ext cx="6858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Consolas"/>
              </a:defRPr>
            </a:pPr>
            <a:r>
              <a:t>r2_score(), mean_squared_error()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828800" y="5440680"/>
            <a:ext cx="457200" cy="50292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828800" y="548640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68880" y="548640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ADCFC"/>
                </a:solidFill>
                <a:latin typeface="Calibri"/>
              </a:defRPr>
            </a:pPr>
            <a:r>
              <a:t>Comparar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0" y="5486400"/>
            <a:ext cx="6858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Consolas"/>
              </a:defRPr>
            </a:pPr>
            <a:r>
              <a:t>todos os modelos lado a lado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71600" y="5669280"/>
            <a:ext cx="9144000" cy="7315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554480" y="571500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ADCFC"/>
                </a:solidFill>
                <a:latin typeface="Consolas"/>
              </a:defRPr>
            </a:pPr>
            <a:r>
              <a:t>MSE = (1/n) Σ(yᵢ − ŷᵢ)²    |    R² = 1 − SS_res / SS_tot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761"/>
                </a:solidFill>
                <a:latin typeface="Calibri"/>
              </a:defRPr>
            </a:pPr>
            <a:r>
              <a:t>️  Prática: Treinando 4 Modelos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Soft-sensor: predizer composição do destilado em tempo real!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28600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▸  Carregue coluna_destilacao_30dias.csv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▸  Separe X (7 features) e y (composicao)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▸  Split 80/20 com random_state=42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▸  Treine: LinearRegression, DecisionTree, RandomForest, XGBoost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▸  Calcule R² e RMSE para treino e teste</a:t>
            </a:r>
          </a:p>
          <a:p>
            <a:pPr>
              <a:spcAft>
                <a:spcPts val="10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▸  Crie tabela comparativa + plot predicted vs real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4846320"/>
            <a:ext cx="9144000" cy="13716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4937760"/>
            <a:ext cx="8686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DBEE5"/>
                </a:solidFill>
                <a:latin typeface="Consolas"/>
              </a:defRPr>
            </a:pPr>
            <a:r>
              <a:t>modelos = {</a:t>
            </a:r>
            <a:br/>
            <a:r>
              <a:t>    'Linear': LinearRegression(),</a:t>
            </a:r>
            <a:br/>
            <a:r>
              <a:t>    'Árvore': DecisionTreeRegressor(max_depth=5),</a:t>
            </a:r>
            <a:br/>
            <a:r>
              <a:t>    'RF': RandomForestRegressor(n_estimators=100),</a:t>
            </a:r>
            <a:br/>
            <a:r>
              <a:t>    'XGB': XGBRegressor(n_estimators=100, lr=0.1)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  Diagnóstico de Overfitting por Hiperparâmetro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011680"/>
            <a:ext cx="2286000" cy="2743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71600" y="2011680"/>
            <a:ext cx="2286000" cy="45720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40" y="20574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Grupo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60604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ADCFC"/>
                </a:solidFill>
                <a:latin typeface="Calibri"/>
              </a:defRPr>
            </a:pPr>
            <a:r>
              <a:t>max_depth (Árvore)</a:t>
            </a:r>
            <a:br/>
            <a:br/>
            <a:r>
              <a:t>Valores: 3, 5,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3566160"/>
            <a:ext cx="2103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49E"/>
                </a:solidFill>
                <a:latin typeface="Calibri"/>
              </a:defRPr>
            </a:pPr>
            <a:r>
              <a:t>Para cada valor:</a:t>
            </a:r>
            <a:br/>
            <a:r>
              <a:t>1) R² treino</a:t>
            </a:r>
            <a:br/>
            <a:r>
              <a:t>2) R² teste</a:t>
            </a:r>
            <a:br/>
            <a:r>
              <a:t>3) Gap = overfitting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31920" y="2011680"/>
            <a:ext cx="2286000" cy="2743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931920" y="2011680"/>
            <a:ext cx="2286000" cy="45720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23359" y="20574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Grupo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59" y="260604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ADCFC"/>
                </a:solidFill>
                <a:latin typeface="Calibri"/>
              </a:defRPr>
            </a:pPr>
            <a:r>
              <a:t>n_estimators (RF)</a:t>
            </a:r>
            <a:br/>
            <a:br/>
            <a:r>
              <a:t>Valores: 10, 100, 500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566160"/>
            <a:ext cx="2103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49E"/>
                </a:solidFill>
                <a:latin typeface="Calibri"/>
              </a:defRPr>
            </a:pPr>
            <a:r>
              <a:t>Para cada valor:</a:t>
            </a:r>
            <a:br/>
            <a:r>
              <a:t>1) R² treino</a:t>
            </a:r>
            <a:br/>
            <a:r>
              <a:t>2) R² teste</a:t>
            </a:r>
            <a:br/>
            <a:r>
              <a:t>3) Gap = overfitting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2011680"/>
            <a:ext cx="2286000" cy="2743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92240" y="2011680"/>
            <a:ext cx="2286000" cy="457200"/>
          </a:xfrm>
          <a:prstGeom prst="rect">
            <a:avLst/>
          </a:prstGeom>
          <a:solidFill>
            <a:srgbClr val="8957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79" y="20574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Grupo 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79" y="260604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ADCFC"/>
                </a:solidFill>
                <a:latin typeface="Calibri"/>
              </a:defRPr>
            </a:pPr>
            <a:r>
              <a:t>max_depth (RF)</a:t>
            </a:r>
            <a:br/>
            <a:br/>
            <a:r>
              <a:t>Valores: 3, 10, None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79" y="3566160"/>
            <a:ext cx="2103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49E"/>
                </a:solidFill>
                <a:latin typeface="Calibri"/>
              </a:defRPr>
            </a:pPr>
            <a:r>
              <a:t>Para cada valor:</a:t>
            </a:r>
            <a:br/>
            <a:r>
              <a:t>1) R² treino</a:t>
            </a:r>
            <a:br/>
            <a:r>
              <a:t>2) R² teste</a:t>
            </a:r>
            <a:br/>
            <a:r>
              <a:t>3) Gap = overfitting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52559" y="2011680"/>
            <a:ext cx="2286000" cy="2743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52559" y="2011680"/>
            <a:ext cx="2286000" cy="4572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3999" y="20574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Grupo 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3999" y="260604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ADCFC"/>
                </a:solidFill>
                <a:latin typeface="Calibri"/>
              </a:defRPr>
            </a:pPr>
            <a:r>
              <a:t>learning_rate (XGB)</a:t>
            </a:r>
            <a:br/>
            <a:br/>
            <a:r>
              <a:t>Valores: 0.01, 0.1, 0.3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3999" y="3566160"/>
            <a:ext cx="2103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49E"/>
                </a:solidFill>
                <a:latin typeface="Calibri"/>
              </a:defRPr>
            </a:pPr>
            <a:r>
              <a:t>Para cada valor:</a:t>
            </a:r>
            <a:br/>
            <a:r>
              <a:t>1) R² treino</a:t>
            </a:r>
            <a:br/>
            <a:r>
              <a:t>2) R² teste</a:t>
            </a:r>
            <a:br/>
            <a:r>
              <a:t>3) Gap = overfitting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50292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29922"/>
                </a:solidFill>
                <a:latin typeface="Calibri"/>
              </a:defRPr>
            </a:pPr>
            <a:r>
              <a:t>🧠  Pergunta: Qual valor minimiza o gap treino-teste? Qual maximiza R² de teste?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761"/>
                </a:solidFill>
                <a:latin typeface="Calibri"/>
              </a:defRPr>
            </a:pPr>
            <a:r>
              <a:t>Random Forest vs XGBoost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2011680"/>
            <a:ext cx="4389120" cy="3657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011680"/>
            <a:ext cx="4389120" cy="45720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2057400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Random Forest — Paralelo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60604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▸  Árvores treinadas INDEPENDENTEMENTE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▸  Cada árvore vê dados diferentes (bootstrap)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▸  Predição = média de todas as árvores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▸  Reduz variância, robusto a overfitting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▸  Menos sensível a hiperparâmetros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2011680"/>
            <a:ext cx="4389120" cy="3657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2011680"/>
            <a:ext cx="4389120" cy="457200"/>
          </a:xfrm>
          <a:prstGeom prst="rect">
            <a:avLst/>
          </a:prstGeom>
          <a:solidFill>
            <a:srgbClr val="8957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2057400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XGBoost — Sequencial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60604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▸  Árvores treinadas SEQUENCIALMENTE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▸  Cada árvore corrige erros da anterior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▸  Minimiza perda via gradient descent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▸  Mais preciso, mas mais sensível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▸  Requer tuning de learning_rate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5943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2761"/>
                </a:solidFill>
                <a:latin typeface="Calibri"/>
              </a:defRPr>
            </a:pPr>
            <a:r>
              <a:t>Na engenharia química: RF = seguro e robusto | XGBoost = máximo desempenho com tuning.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761"/>
                </a:solidFill>
                <a:latin typeface="Calibri"/>
              </a:defRPr>
            </a:pPr>
            <a:r>
              <a:t>  Tarefa: Comparando Modelos para o CSTR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▸  Use o dataset CSTR (Aula 3): features + conversão</a:t>
            </a:r>
          </a:p>
          <a:p>
            <a:pPr>
              <a:spcAft>
                <a:spcPts val="10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▸  Treine os 4 modelos (Linear, Árvore, RF, XGBoost)</a:t>
            </a:r>
          </a:p>
          <a:p>
            <a:pPr>
              <a:spcAft>
                <a:spcPts val="10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▸  Calcule R² e RMSE (treino e teste)</a:t>
            </a:r>
          </a:p>
          <a:p>
            <a:pPr>
              <a:spcAft>
                <a:spcPts val="10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▸  Identifique: maior overfitting? melhor generalização?</a:t>
            </a:r>
          </a:p>
          <a:p>
            <a:pPr>
              <a:spcAft>
                <a:spcPts val="10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▸  Plote predicted vs real (melhor e pior lado a lado)</a:t>
            </a:r>
          </a:p>
          <a:p>
            <a:pPr>
              <a:spcAft>
                <a:spcPts val="10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▸  Escreva 1 parágrafo: qual modelo implementaria como soft-sensor?</a:t>
            </a:r>
          </a:p>
          <a:p>
            <a:pPr>
              <a:spcAft>
                <a:spcPts val="10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▸  Entregue via Colab — Prazo: antes da Aula 6 (7 dias)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4754880"/>
            <a:ext cx="9144000" cy="5486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48006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ADCFC"/>
                </a:solidFill>
                <a:latin typeface="Calibri"/>
              </a:defRPr>
            </a:pPr>
            <a:r>
              <a:t> Bônus NT: Treine sem a feature T_reator — o R² cai quanto? Modelo ainda útil? (+20%)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5778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2761"/>
                </a:solidFill>
                <a:latin typeface="Calibri"/>
              </a:defRPr>
            </a:pPr>
            <a:r>
              <a:t>Próxima aula: Avaliação e Validação de Modelos — R², RMSE, MAE, validação cruzada. 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