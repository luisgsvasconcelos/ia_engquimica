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  <a:br/>
            <a:r>
              <a:t>Supervisionado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05 — Da regressão linear ao XGBoost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Regressão Linear  •  Árvore de Decisão  •  Random Forest  • 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Ensinando o Computador a Prever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Se eu te disser T_top = 78,5 °C, quanto você chuta que é a composição?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4688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Chute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Baseado na intuição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931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Visualmente:</a:t>
            </a:r>
            <a:br/>
            <a:r>
              <a:t>Reta suave</a:t>
            </a:r>
            <a:br/>
            <a:r>
              <a:t>vs.</a:t>
            </a:r>
            <a:br/>
            <a:r>
              <a:t>Degraus retos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688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Regressão 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Reta otimizada (MSE mínimo)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Visualmente:</a:t>
            </a:r>
            <a:br/>
            <a:r>
              <a:t>Reta suave</a:t>
            </a:r>
            <a:br/>
            <a:r>
              <a:t>vs.</a:t>
            </a:r>
            <a:br/>
            <a:r>
              <a:t>Degraus retos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688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4688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Árvore de Decisão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017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Regras binárias em degraus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931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Visualmente:</a:t>
            </a:r>
            <a:br/>
            <a:r>
              <a:t>Reta suave</a:t>
            </a:r>
            <a:br/>
            <a:r>
              <a:t>vs.</a:t>
            </a:r>
            <a:br/>
            <a:r>
              <a:t>Degraus retos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"Modelo fenomenológico: y = f(X) de leis físicas. ML: y = f(X) aprendida dos dados."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"Se uma árvore de decisão pode desenhar</a:t>
            </a:r>
            <a:br/>
            <a:r>
              <a:t>degraus para ajustar qualquer curva,</a:t>
            </a:r>
            <a:br/>
            <a:r>
              <a:t>por que não usamos árvores gigantes</a:t>
            </a:r>
            <a:br/>
            <a:r>
              <a:t>com profundidade 1000?"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a árvore memoriza os dados de treino? E quando chega um dado novo?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Quatro Algoritmos, Uma Missão: Predizer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572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57200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47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Regressão 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ŷ = w₁x₁ + w₂x₂ + ... + b</a:t>
            </a:r>
            <a:br/>
            <a:br/>
            <a:r>
              <a:t>Encontra pesos que minimizam</a:t>
            </a:r>
            <a:br/>
            <a:r>
              <a:t>o erro quadrático (MSE).</a:t>
            </a:r>
            <a:br/>
            <a:br/>
            <a:r>
              <a:t>Interpretação física:</a:t>
            </a:r>
            <a:br/>
            <a:r>
              <a:t>cada wᵢ = impacto de xᵢ em 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572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57200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🌳  Árvore de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Fluxograma de perguntas binárias.</a:t>
            </a:r>
            <a:br/>
            <a:br/>
            <a:r>
              <a:t>Ex: T_top &gt; 78,5°C?</a:t>
            </a:r>
            <a:br/>
            <a:r>
              <a:t>  Sim → região A (média = 0.88)</a:t>
            </a:r>
            <a:br/>
            <a:r>
              <a:t>  Não → região B (média = 0.90)</a:t>
            </a:r>
            <a:br/>
            <a:br/>
            <a:r>
              <a:t>Predição = valor médio da região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06240"/>
            <a:ext cx="4572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2245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🌲 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Muitas árvores treinadas em</a:t>
            </a:r>
            <a:br/>
            <a:r>
              <a:t>dados aleatórios (bootstrap).</a:t>
            </a:r>
            <a:br/>
            <a:br/>
            <a:r>
              <a:t>Predição = média de TODAS</a:t>
            </a:r>
            <a:br/>
            <a:r>
              <a:t>as árvores.</a:t>
            </a:r>
            <a:br/>
            <a:br/>
            <a:r>
              <a:t>Reduz overfitting.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4572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4572000" cy="4114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245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Árvores treinadas SEQUENCIALMENTE.</a:t>
            </a:r>
            <a:br/>
            <a:br/>
            <a:r>
              <a:t>Cada árvore nova corrige</a:t>
            </a:r>
            <a:br/>
            <a:r>
              <a:t>os erros da anterior.</a:t>
            </a:r>
            <a:br/>
            <a:br/>
            <a:r>
              <a:t>Gradient descent no espaço</a:t>
            </a:r>
            <a:br/>
            <a:r>
              <a:t>de modelos.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Analogia: Cada Modelo É uma Ferramenta Diferente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228600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Regressão 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574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Traça uma reta reta. Simples, interpretável, mas limitada.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017520"/>
            <a:ext cx="2286000" cy="73152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Árvore de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632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Recorta regiões retangulares. Flexível, mas pode overfit.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023360"/>
            <a:ext cx="2286000" cy="7315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Muitos estênceis votam. Robusto, generalize bem.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029200"/>
            <a:ext cx="2286000" cy="7315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074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Cada membro aprende com o erro do anterior. Poderoso.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Na engenharia química: escolha a ferramenta certa para o problema certo.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de ML em 6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57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train_test_split(X, y, test_size=0.2)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974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Instanciar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model = LinearRegression()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3832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Treinar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29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069080"/>
            <a:ext cx="457200" cy="5029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Predizer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y_pred = model.predict(X_test)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754880"/>
            <a:ext cx="457200" cy="5029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2468880" y="4800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Avaliar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00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r2_score(), mean_squared_error()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440680"/>
            <a:ext cx="457200" cy="5029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86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Comparar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486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todos os modelos lado a lado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66928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715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onsolas"/>
              </a:defRPr>
            </a:pPr>
            <a:r>
              <a:t>MSE = (1/n) Σ(yᵢ − ŷᵢ)²    |    R² = 1 − SS_res / SS_tot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️  Prática: Treinando 4 Modelos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Soft-sensor: predizer composição do destilado em tempo real!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Carregue coluna_destilacao_30dias.csv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Separe X (7 features) e y (composicao)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Split 80/20 com random_state=42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Treine: LinearRegression, DecisionTree, RandomForest, XGBoost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Calcule R² e RMSE para treino e teste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tabela comparativa + plot predicted vs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3776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DBEE5"/>
                </a:solidFill>
                <a:latin typeface="Consolas"/>
              </a:defRPr>
            </a:pPr>
            <a:r>
              <a:t>modelos = {</a:t>
            </a:r>
            <a:br/>
            <a:r>
              <a:t>    'Linear': LinearRegression(),</a:t>
            </a:r>
            <a:br/>
            <a:r>
              <a:t>    'Árvore': DecisionTreeRegressor(max_depth=5),</a:t>
            </a:r>
            <a:br/>
            <a:r>
              <a:t>    'RF': RandomForestRegressor(n_estimators=100),</a:t>
            </a:r>
            <a:br/>
            <a:r>
              <a:t>    'XGB': XGBRegressor(n_estimators=100, lr=0.1)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Diagnóstico de Overfitting por Hiperparâmetro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06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max_depth (Árvore)</a:t>
            </a:r>
            <a:br/>
            <a:br/>
            <a:r>
              <a:t>Valores: 3, 5,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Para cada valor:</a:t>
            </a:r>
            <a:br/>
            <a:r>
              <a:t>1) R² treino</a:t>
            </a:r>
            <a:br/>
            <a:r>
              <a:t>2) R² teste</a:t>
            </a:r>
            <a:br/>
            <a:r>
              <a:t>3) Gap = overfitting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606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n_estimators (RF)</a:t>
            </a:r>
            <a:br/>
            <a:br/>
            <a:r>
              <a:t>Valores: 10, 100,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661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Para cada valor:</a:t>
            </a:r>
            <a:br/>
            <a:r>
              <a:t>1) R² treino</a:t>
            </a:r>
            <a:br/>
            <a:r>
              <a:t>2) R² teste</a:t>
            </a:r>
            <a:br/>
            <a:r>
              <a:t>3) Gap = overfitting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606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max_depth (RF)</a:t>
            </a:r>
            <a:br/>
            <a:br/>
            <a:r>
              <a:t>Valores: 3, 10, 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5661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Para cada valor:</a:t>
            </a:r>
            <a:br/>
            <a:r>
              <a:t>1) R² treino</a:t>
            </a:r>
            <a:br/>
            <a:r>
              <a:t>2) R² teste</a:t>
            </a:r>
            <a:br/>
            <a:r>
              <a:t>3) Gap = overfitting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606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learning_rate (XGB)</a:t>
            </a:r>
            <a:br/>
            <a:br/>
            <a:r>
              <a:t>Valores: 0.01, 0.1, 0.3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35661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Para cada valor:</a:t>
            </a:r>
            <a:br/>
            <a:r>
              <a:t>1) R² treino</a:t>
            </a:r>
            <a:br/>
            <a:r>
              <a:t>2) R² teste</a:t>
            </a:r>
            <a:br/>
            <a:r>
              <a:t>3) Gap = overfitting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9922"/>
                </a:solidFill>
                <a:latin typeface="Calibri"/>
              </a:defRPr>
            </a:pPr>
            <a:r>
              <a:t>🧠  Pergunta: Qual valor minimiza o gap treino-teste? Qual maximiza R² de teste?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Random Forest vs XGBoost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Random Forest —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Árvores treinadas INDEPENDENTEMENTE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Cada árvore vê dados diferentes (bootstrap)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Predição = média de todas as árvores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Reduz variância, robusto a overfitting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Menos sensível a hiperparâmetros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XGBoost — Sequencial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Árvores treinadas SEQUENCIALMENTE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Cada árvore corrige erros da anterior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Minimiza perda via gradient descent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Mais preciso, mas mais sensível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Requer tuning de learning_rate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Na engenharia química: RF = seguro e robusto | XGBoost = máximo desempenho com tuning.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Tarefa: Comparando Modelos para o CSTR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Use o dataset CSTR (Aula 3): features + conversão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Treine os 4 modelos (Linear, Árvore, RF, XGBoost)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Calcule R² e RMSE (treino e teste)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Identifique: maior overfitting? melhor generalização?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Plote predicted vs real (melhor e pior lado a lado)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Escreva 1 parágrafo: qual modelo implementaria como soft-sensor?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6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Treine sem a feature T_reator — o R² cai quanto? Modelo ainda útil?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Avaliação e Validação de Modelos — R², RMSE, MAE, validação cruzada.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