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Análise Exploratória</a:t>
            </a:r>
            <a:br/>
            <a:r>
              <a:t>e Visualização (EDA)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ADCFC"/>
                </a:solidFill>
                <a:latin typeface="Calibri"/>
              </a:defRPr>
            </a:pPr>
            <a:r>
              <a:t>Aula 04 — O Raio-X dos dados antes da modelagem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Histograma  •  Boxplot  •  Scatter  •  Pairplot  •  Heatmap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Prof. [Seu Nome]  |  Duração: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761"/>
                </a:solidFill>
                <a:latin typeface="Calibri"/>
              </a:defRPr>
            </a:pPr>
            <a:r>
              <a:t>Uma Imagem Vale Mil Dados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43891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4389120" cy="45720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874519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 — Tabela de Números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688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500 linhas × 8 colunas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4.000 números para ler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T_reator e conversão são correlacionadas?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Impossível ver o padrão...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43891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438912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74519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 — Pairplot + Heatmap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4688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Heatmap: R = -0.87 entre T e conversão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Pairplot: relação linear clara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Boxplot: outliers visíveis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O padrão salta aos olhos!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"Sem EDA, você modela no escuro."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Pergunta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"Se o heatmap mostra correlação zero</a:t>
            </a:r>
            <a:br/>
            <a:r>
              <a:t>entre pressão e temperatura,</a:t>
            </a:r>
            <a:br/>
            <a:r>
              <a:t>mas a termodinâmica (PV=nRT) diz</a:t>
            </a:r>
            <a:br/>
            <a:r>
              <a:t>que P e T estão relacionadas...</a:t>
            </a:r>
            <a:br/>
            <a:r>
              <a:t>o que está errado?"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3891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💡 Pense: escala dos dados? Feature transformada? Relação não-linear?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O Kit de Ferramentas da EDA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2743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2743200" cy="4114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85623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📊  Histograma + KDE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33172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Como os dados se distribuem?</a:t>
            </a:r>
            <a:br/>
            <a:r>
              <a:t>Normal? Bimodal? Assimétrica?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828800"/>
            <a:ext cx="2743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2743200" cy="41148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5623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📦  Boxplot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33172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Há outliers? A variável é</a:t>
            </a:r>
            <a:br/>
            <a:r>
              <a:t>simétrica? Comparar escalas.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828800"/>
            <a:ext cx="2743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1828800"/>
            <a:ext cx="2743200" cy="41148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85623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📈  Série Temporal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33172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Tendência? Sazonalidade?</a:t>
            </a:r>
            <a:br/>
            <a:r>
              <a:t>Drift? Estacionariedade.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389120"/>
            <a:ext cx="2743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4389120"/>
            <a:ext cx="2743200" cy="41148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44165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🔵  Scatter + Regressão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89204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Duas variáveis têm relação</a:t>
            </a:r>
            <a:br/>
            <a:r>
              <a:t>linear? R forte ou fraco?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4389120"/>
            <a:ext cx="2743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4389120"/>
            <a:ext cx="2743200" cy="4114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4165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🔷  Pairplot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89204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Visão geral de TODAS as</a:t>
            </a:r>
            <a:br/>
            <a:r>
              <a:t>relações lineares de uma vez.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4389120"/>
            <a:ext cx="2743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0" y="4389120"/>
            <a:ext cx="2743200" cy="41148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44165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🟥  Heatmap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89204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Grau da relação (R de Pearson).</a:t>
            </a:r>
            <a:br/>
            <a:r>
              <a:t>Mapa do tesouro numérico.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Interpretação do R de Pearson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2011680"/>
            <a:ext cx="3200400" cy="50292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20574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|R| = 0.0 – 0.3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057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949E"/>
                </a:solidFill>
                <a:latin typeface="Calibri"/>
              </a:defRPr>
            </a:pPr>
            <a:r>
              <a:t>Fraco / Nenhuma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651760"/>
            <a:ext cx="3200400" cy="50292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6974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|R| = 0.3 – 0.5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697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29922"/>
                </a:solidFill>
                <a:latin typeface="Calibri"/>
              </a:defRPr>
            </a:pPr>
            <a:r>
              <a:t>Moderada fraca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291840"/>
            <a:ext cx="320040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33375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|R| = 0.5 – 0.7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337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0D9"/>
                </a:solidFill>
                <a:latin typeface="Calibri"/>
              </a:defRPr>
            </a:pPr>
            <a:r>
              <a:t>Moderada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3931920"/>
            <a:ext cx="3200400" cy="50292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397763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|R| = 0.7 – 0.9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97763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8636"/>
                </a:solidFill>
                <a:latin typeface="Calibri"/>
              </a:defRPr>
            </a:pPr>
            <a:r>
              <a:t>Forte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572000"/>
            <a:ext cx="3200400" cy="50292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4617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|R| = 0.9 – 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617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957E5"/>
                </a:solidFill>
                <a:latin typeface="Calibri"/>
              </a:defRPr>
            </a:pPr>
            <a:r>
              <a:t>Muito forte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530352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53492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⚠️  CAVEAT: R mede apenas relação LINEAR!</a:t>
            </a:r>
            <a:br/>
            <a:r>
              <a:t>Duas variáveis podem ter relação não-linear forte e R ≈ 0.</a:t>
            </a:r>
            <a:br/>
            <a:r>
              <a:t>→ Sempre olhe o scatter plot antes de confiar no 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Por que Visualizar? — Quarteto de Anscombe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4 datasets com EXATAMENTE a mesma média, variância, correlação e reta de regressão.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onsolas"/>
              </a:defRPr>
            </a:pPr>
            <a:r>
              <a:t>Estatísticas idênticas:  x̄=9, ȳ=7.5, R=0.816, R²=0.667, y = 3 + 0.5x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Mas os gráficos são RADICALMENTE diferentes — linear, não-linear, outlier, vertical.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38862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Moral: SEMPRE olhe os dados visualmente antes de confiar em estatísticas resumo.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846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Na engenharia química, isso significa:</a:t>
            </a:r>
            <a:br/>
            <a:r>
              <a:t>• Não confie apenas em df.describe() — plote histogramas</a:t>
            </a:r>
            <a:br/>
            <a:r>
              <a:t>• Não confie apenas em df.corr() — plote scatter plots</a:t>
            </a:r>
            <a:br/>
            <a:r>
              <a:t>• Não confie apenas em R² — verifique resíduos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Roteiro de EDA — 6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2011680"/>
            <a:ext cx="45720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057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57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Visão geral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0574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onsolas"/>
              </a:defRPr>
            </a:pPr>
            <a:r>
              <a:t>df.info() · df.describe() · df.shape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697480"/>
            <a:ext cx="45720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7432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743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Univariada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7432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onsolas"/>
              </a:defRPr>
            </a:pPr>
            <a:r>
              <a:t>histplot() · boxplot()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383280"/>
            <a:ext cx="45720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4290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429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Série temporal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4290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onsolas"/>
              </a:defRPr>
            </a:pPr>
            <a:r>
              <a:t>df[col].plot() — tendência, drift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069080"/>
            <a:ext cx="457200" cy="50292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114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114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Bivariada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1148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onsolas"/>
              </a:defRPr>
            </a:pPr>
            <a:r>
              <a:t>regplot() · scatter() — pares candidatos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4754880"/>
            <a:ext cx="457200" cy="50292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4800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800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Multivariada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8006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onsolas"/>
              </a:defRPr>
            </a:pPr>
            <a:r>
              <a:t>pairplot() — varredura geral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5440680"/>
            <a:ext cx="457200" cy="50292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5486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486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Heatmap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4864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onsolas"/>
              </a:defRPr>
            </a:pPr>
            <a:r>
              <a:t>heatmap(df.corr()) — resumo numérico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🖥️  Prática: EDA Completa de uma Coluna de Destilação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Calibri"/>
              </a:defRPr>
            </a:pPr>
            <a:r>
              <a:t>30 dias de operação — 8 variáveis, ~43.000 pontos. Execute o roteiro EDA!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Carregue coluna_destilacao_30dias.csv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Gere histogramas + KDE das 4 variáveis principais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Boxplot comparativo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Série temporal de 3 dias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Pairplot (corner) + Heatmap com anotações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Escreva 1 observação por gráfico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9144000" cy="1371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512064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DBEE5"/>
                </a:solidFill>
                <a:latin typeface="Consolas"/>
              </a:defRPr>
            </a:pPr>
            <a:r>
              <a:t>sns.heatmap(df.corr(), annot=True, fmt='.2f', cmap='RdBu', center=0)</a:t>
            </a:r>
            <a:br/>
            <a:r>
              <a:t>sns.pairplot(df, vars=cols, corner=True, kind='reg')</a:t>
            </a:r>
            <a:br/>
            <a:r>
              <a:t>sns.histplot(df['T_top_C'], bins=50, kde=True)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🔍  Diagnóstico Visual por Período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22860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22860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Grupo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6060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ADCFC"/>
                </a:solidFill>
                <a:latin typeface="Calibri"/>
              </a:defRPr>
            </a:pPr>
            <a:r>
              <a:t>Semana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0632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Operação normal</a:t>
            </a:r>
            <a:br/>
            <a:r>
              <a:t>Estado estacionário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931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1) Heatmap do período</a:t>
            </a:r>
            <a:br/>
            <a:r>
              <a:t>2) Compare com o geral</a:t>
            </a:r>
            <a:br/>
            <a:r>
              <a:t>3) Representativo para modelo?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2011680"/>
            <a:ext cx="22860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31920" y="2011680"/>
            <a:ext cx="22860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59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Grupo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26060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ADCFC"/>
                </a:solidFill>
                <a:latin typeface="Calibri"/>
              </a:defRPr>
            </a:pPr>
            <a:r>
              <a:t>Semana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59" y="30632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Start-up</a:t>
            </a:r>
            <a:br/>
            <a:r>
              <a:t>Após parada programada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59" y="3931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1) Heatmap do período</a:t>
            </a:r>
            <a:br/>
            <a:r>
              <a:t>2) Compare com o geral</a:t>
            </a:r>
            <a:br/>
            <a:r>
              <a:t>3) Representativo para modelo?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011680"/>
            <a:ext cx="22860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2011680"/>
            <a:ext cx="2286000" cy="45720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Grupo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26060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ADCFC"/>
                </a:solidFill>
                <a:latin typeface="Calibri"/>
              </a:defRPr>
            </a:pPr>
            <a:r>
              <a:t>Semana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30632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Perturbação</a:t>
            </a:r>
            <a:br/>
            <a:r>
              <a:t>Mudança de especificação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3931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1) Heatmap do período</a:t>
            </a:r>
            <a:br/>
            <a:r>
              <a:t>2) Compare com o geral</a:t>
            </a:r>
            <a:br/>
            <a:r>
              <a:t>3) Representativo para modelo?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59" y="2011680"/>
            <a:ext cx="22860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59" y="2011680"/>
            <a:ext cx="2286000" cy="4572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3999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Grupo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3999" y="26060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ADCFC"/>
                </a:solidFill>
                <a:latin typeface="Calibri"/>
              </a:defRPr>
            </a:pPr>
            <a:r>
              <a:t>Semana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999" y="30632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Drift / Incrustação</a:t>
            </a:r>
            <a:br/>
            <a:r>
              <a:t>Degradação lenta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3999" y="3931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1) Heatmap do período</a:t>
            </a:r>
            <a:br/>
            <a:r>
              <a:t>2) Compare com o geral</a:t>
            </a:r>
            <a:br/>
            <a:r>
              <a:t>3) Representativo para modelo?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29922"/>
                </a:solidFill>
                <a:latin typeface="Calibri"/>
              </a:defRPr>
            </a:pPr>
            <a:r>
              <a:t>🧠  Desafio NT: Qual período descartar para não enviesar o modelo? Por quê?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📋  Tarefa: Relatório de EDA de um Processo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Escolha um dataset industrial (Kaggle/UCI ou da aula)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Crie notebook com 5 seções: visão geral, distribuições, séries, correlações, conclusão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Gere ≥ 6 gráficos com legendas e títulos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Explique fisicamente as 3 correlações mais fortes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Conclusão: 3 parágrafos (processo bem operado? target? features?)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Entregue via Colab — Prazo: antes da Aula 5 (7 dias)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4617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🧠 Bônus NT: Decomposição sazonal com seasonal_decompose — ciclos diários/semanais? (+20%)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94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t>Próxima aula: Nosso primeiro modelo preditivo — Regressão Linear, Árvores de Decisão!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