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Avaliação e Validação</a:t>
            </a:r>
            <a:br/>
            <a:r>
              <a:t>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06 — Métricas, overfitting e validação cruzada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MAE  •  RMSE  •  R²  •  Overfitting  •  k-fold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O Modelo É Bom o Bastante para Operar a Planta?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Qual modelo você implantaria na planta?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4688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4688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Modelo A — Parece incrível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R² treino = 0.98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R² teste = 0.60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Diferença = 0.38 (!)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Parece melhor... 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3891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3633"/>
                </a:solidFill>
                <a:latin typeface="Calibri"/>
              </a:defRPr>
            </a:pPr>
            <a:r>
              <a:t>🔴 Decora os dados de treino.</a:t>
            </a:r>
            <a:br/>
            <a:r>
              <a:t>Na planta real, falha.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4688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43891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Modelo B — Parece modesto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175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R² treino = 0.78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R² teste = 0.76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Diferença = 0.02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Parece pior... 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3891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8636"/>
                </a:solidFill>
                <a:latin typeface="Calibri"/>
              </a:defRPr>
            </a:pPr>
            <a:r>
              <a:t>✅ Generaliza bem.</a:t>
            </a:r>
            <a:br/>
            <a:r>
              <a:t>Na planta real, funciona.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"O gap entre treino e teste é o verdadeiro teste do modelo."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"Na engenharia química, errar a composição</a:t>
            </a:r>
            <a:br/>
            <a:r>
              <a:t>em 0,5% = R$ 500.000 de perda.</a:t>
            </a:r>
            <a:br/>
            <a:r>
              <a:t>Errar a temperatura em 5 °C = explosão.</a:t>
            </a:r>
            <a:br/>
            <a:r>
              <a:t>Qual métrica captura o CUSTO do erro?"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MAE = erro médio | RMSE = amplifica erros grandes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Três Métricas, Três Histórias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27432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Erro Médio Absoluto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97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MAE = (1/n) Σ|yᵢ − ŷ|</a:t>
            </a:r>
            <a:br/>
            <a:br/>
            <a:r>
              <a:t>"Em média, o modelo erra por X"</a:t>
            </a:r>
            <a:br/>
            <a:br/>
            <a:r>
              <a:t>Penaliza todos igualmente.</a:t>
            </a:r>
            <a:br/>
            <a:r>
              <a:t>Fácil de interpretar.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Erro Quadrático Médio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97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RMSE = √[(1/n) Σ(y − ŷᵢ)²]</a:t>
            </a:r>
            <a:br/>
            <a:br/>
            <a:r>
              <a:t>Amplifica erros grandes.</a:t>
            </a:r>
            <a:br/>
            <a:r>
              <a:t>Se RMSE &gt;&gt; MAE → outliers.</a:t>
            </a:r>
            <a:br/>
            <a:r>
              <a:t>O engenheiro observa PRIMEIRO.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828800"/>
            <a:ext cx="27432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8288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745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Variância Explicada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974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R² = 1 − SS_res/SS_tot</a:t>
            </a:r>
            <a:br/>
            <a:br/>
            <a:r>
              <a:t>"O modelo explica X% da variação"</a:t>
            </a:r>
            <a:br/>
            <a:br/>
            <a:r>
              <a:t>R²=0.85 = explica 85%</a:t>
            </a:r>
            <a:br/>
            <a:r>
              <a:t>Não diz nada sobre erros absolutos.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Overfitting vs Underfitting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A3633"/>
                </a:solidFill>
                <a:latin typeface="Calibri"/>
              </a:defRPr>
            </a:pPr>
            <a:r>
              <a:t>🔴 Overfitting (Decorar)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R²_treino ≫ R²_teste (gap &gt; 0.15)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Modelo complexo demais para os dados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Funciona no treino, falha na planta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Solução: reduzir complexidade,</a:t>
            </a:r>
            <a:br/>
            <a:r>
              <a:t>aumentar dados, regularizar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922"/>
                </a:solidFill>
                <a:latin typeface="Calibri"/>
              </a:defRPr>
            </a:pPr>
            <a:r>
              <a:t>🟡 Underfitting (Subaprender)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R²_treino baixo E R²_teste baixo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Modelo simples demais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Não captura o padrão dos dados</a:t>
            </a:r>
          </a:p>
          <a:p>
            <a:pPr>
              <a:spcAft>
                <a:spcPts val="1000"/>
              </a:spcAft>
              <a:defRPr sz="1500">
                <a:solidFill>
                  <a:srgbClr val="8B949E"/>
                </a:solidFill>
                <a:latin typeface="Calibri"/>
              </a:defRPr>
            </a:pPr>
            <a:r>
              <a:t>▸  Solução: mais complexidade,</a:t>
            </a:r>
            <a:br/>
            <a:r>
              <a:t>mais features, modelo não-linear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5303520"/>
            <a:ext cx="59436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3492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✅ Ideal: R²_treino alto, R²_teste alto, gap pequeno (&lt; 0.05)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Gráfico de Resíduos — O Detector de Mentiras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Bom — Resíduos Aleatórios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Pontos espalhados sem padrão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Média ≈ 0 em toda a faixa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Modelo captura bem a relação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Não há viés sistemático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Ruim — Padrão nos Resíduos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Forma de funil (heterocedasticidade)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Tendência linear (falta de feature)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Curvatura (relação não-linear)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Modelo está "cego" para algo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761"/>
                </a:solidFill>
                <a:latin typeface="Calibri"/>
              </a:defRPr>
            </a:pPr>
            <a:r>
              <a:t>"Se os resíduos têm padrão, o modelo tem um defeito escondido."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Validação Cruzada (k-fold) — O Teste de Estresse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Dividir dados em k partes (folds) iguais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Treinar em k-1 folds, testar no restante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Repetir k vezes (cada fold é teste uma vez)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Média dos k R² = estimativa robusta da generalização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Desvio padrão = quão consistente o modelo é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Recomendado: k=5 ou k=10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177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nsolas"/>
              </a:defRPr>
            </a:pPr>
            <a:r>
              <a:t>cv_scores = cross_val_score(model, X, y, cv=5, scoring='r2')</a:t>
            </a:r>
            <a:br/>
            <a:r>
              <a:t>print(f'R² CV: {cv_scores.mean():.4f} ± {cv_scores.std():.4f}')</a:t>
            </a:r>
            <a:br/>
            <a:br/>
            <a:r>
              <a:t>Se R²_cv ≈ R²_teste → modelo é consistente.</a:t>
            </a:r>
            <a:br/>
            <a:r>
              <a:t>Se R²_cv ≪ R²_teste → split foi "sortudo" (otimismo).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de Validação — 5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57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train_test_split(X, y, test_size=0.2)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Métricas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MAE, RMSE, R² no teste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47472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20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diff = R²_tr − R²_te → over/under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20624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k-fold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cross_val_score(cv=5) → média ± std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93776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Gráficos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983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onsolas"/>
              </a:defRPr>
            </a:pPr>
            <a:r>
              <a:t>predicted vs real + resíduos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Prescrição de Melhoria por Diagnóstico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57200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299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A: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Reduzir max_depth, regularizar,</a:t>
            </a:r>
            <a:br/>
            <a:r>
              <a:t>aumentar dados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572000" cy="41148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299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B: Underfitting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1460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Mais features, modelo não-linear,</a:t>
            </a:r>
            <a:br/>
            <a:r>
              <a:t>reduzir regularização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20624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4206240"/>
            <a:ext cx="4572000" cy="4114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2245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C: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709159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Testar XGBoost, features</a:t>
            </a:r>
            <a:br/>
            <a:r>
              <a:t>não-lineares, ensemble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20624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206240"/>
            <a:ext cx="4572000" cy="41148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245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Grupo D: Overfitting 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09159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Mesmo que A + verificar</a:t>
            </a:r>
            <a:br/>
            <a:r>
              <a:t>data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Para cada grupo: implemente 1 ação → meça novo R² → a melhoria foi significativa?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📋  Tarefa: Relatório de Validação de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Use o dataset CSTR (features + conversão)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Treine 2 modelos: Random Forest + XGBoost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Calcule R², RMSE, MAE (treino e teste)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Diagnostique overfitting (diferença treino-teste)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Execute k-fold (k=5) e reporte média ± desvio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Plote predicted vs real + gráfico de resíduos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Escreva conclusão: modelo seguro para implantar?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7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Validation curve variando max_depth (1-20) — identifique o ponto ótimo de complexidade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Soft-Sensors — do dado bruto ao modelo implantado!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