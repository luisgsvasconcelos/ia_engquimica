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Oficina de Desenvolvimento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ADCFC"/>
                </a:solidFill>
                <a:latin typeface="Calibri"/>
              </a:defRPr>
            </a:pPr>
            <a:r>
              <a:t>Aula 26 - Bater o baseline com generalização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93192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CV k-fold  •  Overfitting  •  Refino  •  Comparar arquiteturas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Prof. [Seu Nome]  |  Duração: 100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Calibri"/>
              </a:defRPr>
            </a:pPr>
            <a:r>
              <a:t>Pergunta Desafio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"Um modelo com RMSE de TREINO muito baixo</a:t>
            </a:r>
            <a:br/>
            <a:r>
              <a:t>e RMSE de TESTE alto — ele é bom ou ruim?</a:t>
            </a:r>
            <a:br/>
            <a:r>
              <a:t>POR QUE o primeiro ENGANTA?"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5720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4937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Objetivo: RMSE menor E com generalização comprovada pelo CV.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E2761"/>
                </a:solidFill>
                <a:latin typeface="Calibri"/>
              </a:defRPr>
            </a:pPr>
            <a:r>
              <a:t>Mapa Conceitual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2194560"/>
            <a:ext cx="1737360" cy="18288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651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Split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ADCFC"/>
                </a:solidFill>
                <a:latin typeface="Calibri"/>
              </a:defRPr>
            </a:pPr>
            <a:r>
              <a:t>train/test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93392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194560"/>
            <a:ext cx="1737360" cy="18288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2651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CV 5-fold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ADCFC"/>
                </a:solidFill>
                <a:latin typeface="Calibri"/>
              </a:defRPr>
            </a:pPr>
            <a:r>
              <a:t>generaliza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5072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194560"/>
            <a:ext cx="1737360" cy="18288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2651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Treino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ADCFC"/>
                </a:solidFill>
                <a:latin typeface="Calibri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016752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194560"/>
            <a:ext cx="1737360" cy="1828800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651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Diagnóstico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ADCFC"/>
                </a:solidFill>
                <a:latin typeface="Calibri"/>
              </a:defRPr>
            </a:pPr>
            <a:r>
              <a:t>over/underfit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2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2194560"/>
            <a:ext cx="1737360" cy="18288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2651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Refina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ADCFC"/>
                </a:solidFill>
                <a:latin typeface="Calibri"/>
              </a:defRPr>
            </a:pPr>
            <a:r>
              <a:t>hiperpar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40112" y="301752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32720" y="2194560"/>
            <a:ext cx="1737360" cy="182880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78440" y="26517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Compara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78440" y="3200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ADCFC"/>
                </a:solidFill>
                <a:latin typeface="Calibri"/>
              </a:defRPr>
            </a:pPr>
            <a:r>
              <a:t>arquit.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38636"/>
                </a:solidFill>
                <a:latin typeface="Calibri"/>
              </a:defRPr>
            </a:pPr>
            <a:r>
              <a:t>Escopo: superar o baseline da Aula 25 com validade, não apenas RMSE menor.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2011680"/>
            <a:ext cx="173736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1945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21488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Abertura + recall baseline Aula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2880360"/>
            <a:ext cx="173736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30632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10-40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017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Treinamento + CV k=5 (sem data leakage)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3749039"/>
            <a:ext cx="173736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393192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40-75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3886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Diagnóstico, refinamento + mentoria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4617720"/>
            <a:ext cx="173736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48006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75-88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4754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Discussão comunitária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5486400"/>
            <a:ext cx="173736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56692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88-100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56235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Calibri"/>
              </a:defRPr>
            </a:pPr>
            <a:r>
              <a:t>Fechamento + tarefa (relatório técnico)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Validação Cruzada (30min)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train_test_split (estratificado p/ classificação)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cross_val_score(estimador, X, y, cv=5)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Normalizar DENTRO de cada fold (Pipeline) → sem data leakage</a:t>
            </a:r>
          </a:p>
          <a:p>
            <a:pPr>
              <a:spcAft>
                <a:spcPts val="1000"/>
              </a:spcAft>
              <a:defRPr sz="1900">
                <a:solidFill>
                  <a:srgbClr val="CADCFC"/>
                </a:solidFill>
                <a:latin typeface="Calibri"/>
              </a:defRPr>
            </a:pPr>
            <a:r>
              <a:t>▸  Registrar RMSE médio ± desvio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937760"/>
            <a:ext cx="9144000" cy="8229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502920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29922"/>
                </a:solidFill>
                <a:latin typeface="Calibri"/>
              </a:defRPr>
            </a:pPr>
            <a:r>
              <a:t>CV com alto desvio entre folds? Fold 3 com RMSE 2× maior? → robustez vs sorte no split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Diagnóstico de Overfitting (35min)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2743200" cy="2377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011680"/>
            <a:ext cx="2743200" cy="457200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057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Overfit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65176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treino≪teste</a:t>
            </a:r>
            <a:br/>
            <a:r>
              <a:t>reduzir complexidade, regularizar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011680"/>
            <a:ext cx="2743200" cy="2377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2011680"/>
            <a:ext cx="2743200" cy="4572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057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Underfit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65176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treino E teste altos</a:t>
            </a:r>
            <a:br/>
            <a:r>
              <a:t>mais features, mais complexidade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2011680"/>
            <a:ext cx="2743200" cy="2377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2011680"/>
            <a:ext cx="274320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0574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651760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balanço saudável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754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38636"/>
                </a:solidFill>
                <a:latin typeface="Calibri"/>
              </a:defRPr>
            </a:pPr>
            <a:r>
              <a:t>Gráficos: predicted vs real • resíduos • curva de aprendizado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394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949E"/>
                </a:solidFill>
                <a:latin typeface="Calibri"/>
              </a:defRPr>
            </a:pPr>
            <a:r>
              <a:t>R² treino 0,99 mas teste piora? Vale trocar por RMSE que caiu 0,01? (pausa)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Calibri"/>
              </a:defRPr>
            </a:pPr>
            <a:r>
              <a:t>Comparar Arquiteturas (mesmo teste)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  <a:latin typeface="Calibri"/>
              </a:defRPr>
            </a:pPr>
            <a:r>
              <a:t>Baseline (Aula 25) vs Modelo principal vs 1ª alternativa (RF/XGB/MLP)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Comparar no MESMO fold/teste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Trade-off bias-variância: qual generaliza melhor no CV?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Considerar custo de treino/inferência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▸  Alvo: superar o baseline com validade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12064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52120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ADCFC"/>
                </a:solidFill>
                <a:latin typeface="Calibri"/>
              </a:defRPr>
            </a:pPr>
            <a:r>
              <a:t>Refino: grid/random search de 2-3 hiperparâmetros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Discussão Comunitária (13min)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Cada equipe apresenta em 30s: arquitetura, RMSE do CV, diagnóstico + alavanca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Qual grupo teve overfitting? O que fez para corrigir?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Padrões comuns: complexidade, dados insuficientes, leakage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Lições individuais: 'o erro que mais custou / descoberta mais útil'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Calibri"/>
              </a:defRPr>
            </a:pPr>
            <a:r>
              <a:t>Entrega Final da Etapa 2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Notebook completo e comentado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Relatório técnico 6-8 páginas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CV k-fold implementada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Preditos vs reais + resíduos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Diagnóstico + refinamento documentados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Comparação baseline vs modelo final</a:t>
            </a:r>
          </a:p>
          <a:p>
            <a:pPr>
              <a:spcAft>
                <a:spcPts val="10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t>▸  Conclusão com métricas no MESMO split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📋 Tarefa: Relatório Técnico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CADCFC"/>
                </a:solidFill>
                <a:latin typeface="Calibri"/>
              </a:defRPr>
            </a:pPr>
            <a:r>
              <a:t>▸  Completar notebook do Projeto (treino, CV k=5, diagnóstico, refino, comparação)</a:t>
            </a:r>
          </a:p>
          <a:p>
            <a:pPr>
              <a:spcAft>
                <a:spcPts val="1000"/>
              </a:spcAft>
              <a:defRPr sz="1700">
                <a:solidFill>
                  <a:srgbClr val="CADCFC"/>
                </a:solidFill>
                <a:latin typeface="Calibri"/>
              </a:defRPr>
            </a:pPr>
            <a:r>
              <a:t>▸  Redigir relatório técnico (6-8 páginas) reportando métricas no mesmo split</a:t>
            </a:r>
          </a:p>
          <a:p>
            <a:pPr>
              <a:spcAft>
                <a:spcPts val="1000"/>
              </a:spcAft>
              <a:defRPr sz="1700">
                <a:solidFill>
                  <a:srgbClr val="CADCFC"/>
                </a:solidFill>
                <a:latin typeface="Calibri"/>
              </a:defRPr>
            </a:pPr>
            <a:r>
              <a:t>▸  Trilha NT: seção de justificativa (bias-variância, custo, estabilidade CV)</a:t>
            </a:r>
          </a:p>
          <a:p>
            <a:pPr>
              <a:spcAft>
                <a:spcPts val="1000"/>
              </a:spcAft>
              <a:defRPr sz="1700">
                <a:solidFill>
                  <a:srgbClr val="CADCFC"/>
                </a:solidFill>
                <a:latin typeface="Calibri"/>
              </a:defRPr>
            </a:pPr>
            <a:r>
              <a:t>▸  Trilha SJ: checklist de entrega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937760"/>
            <a:ext cx="914400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50292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38636"/>
                </a:solidFill>
                <a:latin typeface="Calibri"/>
              </a:defRPr>
            </a:pPr>
            <a:r>
              <a:t>Entrega: Colab + relatório PDF. Prazo: Aula 27.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