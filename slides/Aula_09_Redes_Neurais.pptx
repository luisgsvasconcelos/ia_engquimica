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Introdução às Redes</a:t>
            </a:r>
            <a:br/>
            <a:r>
              <a:t>Neurais Artificiais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09 — Do neurônio à MLP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Neurônio  •  Ativação  •  MLP  •  Backpropagation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Das Árvores às Curvas Suaves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38912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0574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Árvores (RF, XGBoost)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606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Dividem o espaço em regiões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Aproximação por DEGRAUS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Excelente para dados de processo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Uma superfície suave precisaria</a:t>
            </a:r>
            <a:br/>
            <a:r>
              <a:t>de muitos degraus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43891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38912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Redes Neurais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0604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Aproximam CURVAS suaves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Diferenciáveis (gradiente)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Aproximador universal de funções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▸  Podem capturar relações complexas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"E se a relação entre features e target for uma curva suave e complexa?"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"Um neurônio só consegue aprender</a:t>
            </a:r>
            <a:br/>
            <a:r>
              <a:t>relações LINEAIRES.</a:t>
            </a:r>
            <a:br/>
            <a:r>
              <a:t>Como 3 neurônios em camada</a:t>
            </a:r>
            <a:br/>
            <a:r>
              <a:t>aprendem uma curva?</a:t>
            </a:r>
            <a:br/>
            <a:r>
              <a:t>Onde nasce a não-linearidade?"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3891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A resposta: a função de ATIVAÇÃO não-linear em cada neurônio.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O Neurônio que Aprende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2761"/>
                </a:solidFill>
                <a:latin typeface="Consolas"/>
              </a:defRPr>
            </a:pPr>
            <a:r>
              <a:t>z = w₁x₁ + w₂x₂ + ... + wₙxₙ + b        a = σ(z)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Analogia: neurônio = válvula de controle na planta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383280"/>
            <a:ext cx="45720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383280"/>
            <a:ext cx="457200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4015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⚖️  Pesos (w)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8404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Importância de cada feature</a:t>
            </a:r>
            <a:br/>
            <a:r>
              <a:t>maior w = maior impacto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383280"/>
            <a:ext cx="45720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383280"/>
            <a:ext cx="4572000" cy="36576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0156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🔧  Viés (b)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8404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Limiar de ativação</a:t>
            </a:r>
            <a:br/>
            <a:r>
              <a:t>"quanto precisa somar"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846320"/>
            <a:ext cx="45720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4846320"/>
            <a:ext cx="4572000" cy="36576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48646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⚡  Ativação σ(z)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53035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Decide se o neurônio 'liga'</a:t>
            </a:r>
            <a:br/>
            <a:r>
              <a:t>introduz a não-linearidade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846320"/>
            <a:ext cx="45720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4846320"/>
            <a:ext cx="4572000" cy="36576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8646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📤  Saída 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30352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Passa para a próxima camada</a:t>
            </a:r>
            <a:br/>
            <a:r>
              <a:t>ou é a predição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Funções de Ativação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57200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4572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299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ReLU:  a = max(0, 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0604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Padrão p/ camadas ocultas</a:t>
            </a:r>
            <a:br/>
            <a:r>
              <a:t>Barata, evita gradiente</a:t>
            </a:r>
            <a:br/>
            <a:r>
              <a:t>desaparecendo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57200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45720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299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Sigmoid:  a = 1/(1+e⁻ᶻ)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0604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Saída entre 0 e 1</a:t>
            </a:r>
            <a:br/>
            <a:r>
              <a:t>Classificação binária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389120"/>
            <a:ext cx="457200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4389120"/>
            <a:ext cx="4572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440740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Tanh:  a = tanh(z)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98348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Saída [-1,1]</a:t>
            </a:r>
            <a:br/>
            <a:r>
              <a:t>Dados centrados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389120"/>
            <a:ext cx="4572000" cy="2011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4389120"/>
            <a:ext cx="4572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40740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Linear:  a = 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983480"/>
            <a:ext cx="4297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Regressão (saída)</a:t>
            </a:r>
            <a:br/>
            <a:r>
              <a:t>Sem ativação final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MLP — Multilayer Perceptron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2194560" cy="228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219456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8346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8 features</a:t>
            </a:r>
            <a:br/>
            <a:r>
              <a:t>(T, P, vazão)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286000"/>
            <a:ext cx="2194560" cy="228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0" y="2286000"/>
            <a:ext cx="219456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Oculta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8346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64 neurônios</a:t>
            </a:r>
            <a:br/>
            <a:r>
              <a:t>ReLU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286000"/>
            <a:ext cx="2194560" cy="228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2286000"/>
            <a:ext cx="219456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59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Oculta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8346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32 neurônios</a:t>
            </a:r>
            <a:br/>
            <a:r>
              <a:t>ReLU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2286000"/>
            <a:ext cx="2194560" cy="2286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26880" y="2286000"/>
            <a:ext cx="219456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19" y="23317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Saída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8346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1 valor</a:t>
            </a:r>
            <a:br/>
            <a:r>
              <a:t>composição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Feedforward: o sinal flui da entrada → oculta → saída (x → h₁ → h₂ → ŷ)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48640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5321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onsolas"/>
              </a:defRPr>
            </a:pPr>
            <a:r>
              <a:t>ŷ = f_out(W₂ · f_oculta(W₁ · x + b₁) + b₂)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Backpropagation — A Regra da Cadeia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O erro na saída é uma função COMPOSTA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Erro = L(ŷ(h₂(h₁(x))))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A regra da cadeia diz quanto cada peso contribuiu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Ajustamos cada peso na direção que REDUZ o erro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Δwᵢⱼ = −η · ∂Erro/∂wᵢⱼ   (gradiente descendente)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A 'mágica' é cálculo diferencial em cadeia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07492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Aproximador Universal: uma MLP com 1 camada oculta + ativação</a:t>
            </a:r>
            <a:br/>
            <a:r>
              <a:t>não-linear pode aproximar qualquer função contínua.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Pipeline MLP — 5 Passos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201168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57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Arquitetura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574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MLPRegressor((64, 32), activation='relu')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743200"/>
            <a:ext cx="4572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788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Escalar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88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StandardScaler() — fit no treino, transform no teste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3474720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3520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Treinar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5204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model.fit(X_train_scaled, y_train)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4206240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Predizer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2519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model.predict(X_test_scaled)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4937760"/>
            <a:ext cx="457200" cy="54864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983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ADCFC"/>
                </a:solidFill>
                <a:latin typeface="Calibri"/>
              </a:defRPr>
            </a:pPr>
            <a:r>
              <a:t>Avaliar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983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onsolas"/>
              </a:defRPr>
            </a:pPr>
            <a:r>
              <a:t>RMSE, R², predicted vs real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  Arquitetura da MLP — 4 Grupos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((16,))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activation: relu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6576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1) RMSE treino/teste</a:t>
            </a:r>
            <a:br/>
            <a:r>
              <a:t>2) Curva de perda</a:t>
            </a:r>
            <a:br/>
            <a:r>
              <a:t>3) Mais parâmetros = melhor?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0" y="20116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5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((64, 32))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activation: relu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59" y="36576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1) RMSE treino/teste</a:t>
            </a:r>
            <a:br/>
            <a:r>
              <a:t>2) Curva de perda</a:t>
            </a:r>
            <a:br/>
            <a:r>
              <a:t>3) Mais parâmetros = melhor?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2011680"/>
            <a:ext cx="2286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7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((256, 128))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activation: relu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36576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1) RMSE treino/teste</a:t>
            </a:r>
            <a:br/>
            <a:r>
              <a:t>2) Curva de perda</a:t>
            </a:r>
            <a:br/>
            <a:r>
              <a:t>3) Mais parâmetros = melhor?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59" y="2011680"/>
            <a:ext cx="2286000" cy="2743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52559" y="2011680"/>
            <a:ext cx="22860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3999" y="20574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3999" y="2560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((64, 32))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999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activation: tanh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999" y="36576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Calibri"/>
              </a:defRPr>
            </a:pPr>
            <a:r>
              <a:t>1) RMSE treino/teste</a:t>
            </a:r>
            <a:br/>
            <a:r>
              <a:t>2) Curva de perda</a:t>
            </a:r>
            <a:br/>
            <a:r>
              <a:t>3) Mais parâmetros = melhor?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🧠  Desafio: Por que MLP (256,128,64) pode ter teste PIOR que (64,32)?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  Tarefa: MLP vs XGBoost para o CSTR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Use o dataset CSTR (features + conversão)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Treine MLP (64, 32, 16) + ReLU com dados escalados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Treine XGBoost (200) como baseline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Compare RMSE, R² e TEMPO de treinamento (%%time)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Plote predicted vs real (lado a lado)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Quando escolher MLP vs XGBoost?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Entregue via Colab — Prazo: antes da Aula 10 (7 dias)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892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CFC"/>
                </a:solidFill>
                <a:latin typeface="Calibri"/>
              </a:defRPr>
            </a:pPr>
            <a:r>
              <a:t> Bônus NT: MLP com 1 camada de (2, 8, 32, 128) neurônios — existe ponto de retorno decrescente? (+20%)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761"/>
                </a:solidFill>
                <a:latin typeface="Calibri"/>
              </a:defRPr>
            </a:pPr>
            <a:r>
              <a:t>Próxima aula: Lab Prático 2 — treinar MLPs com Keras/TensorFlow! 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