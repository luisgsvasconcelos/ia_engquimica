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Otimização de</a:t>
            </a:r>
            <a:br/>
            <a:r>
              <a:t>Processos com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15 — Metamodelo + Otimizador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Metamodelo  •  Função objetivo  •  Otimizadores  •  Pareto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Encontrando a Agulha no Palheiro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Modelos PREDIZEM. Mas como DECIDIR o melhor ponto de operação?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🎯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Maximizar rendimento,</a:t>
            </a:r>
            <a:br/>
            <a:r>
              <a:t>minimizar custo, atender</a:t>
            </a:r>
            <a:br/>
            <a:r>
              <a:t>restrições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🗺️  Metamodelo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375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ML que aproxima a</a:t>
            </a:r>
            <a:br/>
            <a:r>
              <a:t>superfície de resposta</a:t>
            </a:r>
            <a:br/>
            <a:r>
              <a:t>(avaliação rápida)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7432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74320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🤖  Otimizador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3375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scipy.optimize procura</a:t>
            </a:r>
            <a:br/>
            <a:r>
              <a:t>o ponto ótimo sem testar</a:t>
            </a:r>
            <a:br/>
            <a:r>
              <a:t>10.000 na planta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"Como encontrar o ponto ótimo sem testar 10.000 combinações na planta?"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"Otimizar o modelo e otimizar a planta</a:t>
            </a:r>
            <a:br/>
            <a:r>
              <a:t>são problemas DIFERENTES.</a:t>
            </a:r>
            <a:br/>
            <a:r>
              <a:t>Se o modelo erra em 2%, o ótimo</a:t>
            </a:r>
            <a:br/>
            <a:r>
              <a:t>encontrado é confiável?"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Pense: o otimizador pode explorar onde o modelo 'alucina'.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 Metamodelo (Surrogate Model)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"É como um simulador de voo: não é o avião real, mas é barato e seguro</a:t>
            </a:r>
            <a:br/>
            <a:r>
              <a:t>para testar manobras. O otimizador encontra a melhor rota sem arriscar a planta."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Modelo de ML aproxima a resposta do processo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RF, XGBoost, MLP treinados em dados da planta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Avaliação RÁPIDA e BARATA (vs planta real)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Substitui a planta na busca do ótimo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O ótimo final ainda precisa ser VALIDADO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Função Objetivo e Restrições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ADCFC"/>
                </a:solidFill>
                <a:latin typeface="Consolas"/>
              </a:defRPr>
            </a:pPr>
            <a:r>
              <a:t>min  f_obj(T, P) = −Rendimento(T, 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Calibri"/>
              </a:defRPr>
            </a:pPr>
            <a:r>
              <a:t>(negativo porque otimizadores MINIMIZAM)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949E"/>
                </a:solidFill>
                <a:latin typeface="Calibri"/>
              </a:defRPr>
            </a:pPr>
            <a:r>
              <a:t>Restrições (limits operacionais):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29922"/>
                </a:solidFill>
                <a:latin typeface="Consolas"/>
              </a:defRPr>
            </a:pPr>
            <a:r>
              <a:t>70 ≤ T ≤ 130 °C     5 ≤ P ≤ 12 bar     ΔT_max ≤ 5 °C/min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Escolhendo o Otimizador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920240"/>
            <a:ext cx="27432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920240"/>
            <a:ext cx="2743200" cy="3200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938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Nelder-Mead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Simplex, sem gradiente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Local, simples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108960"/>
            <a:ext cx="27432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108960"/>
            <a:ext cx="2743200" cy="32004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127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BFGS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Baseado em gradiente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Rápido, mas ótimo LOCAL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297680"/>
            <a:ext cx="27432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297680"/>
            <a:ext cx="2743200" cy="3200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4315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differential_evolution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Evolucionário,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Robusto p/ não-convexo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486400"/>
            <a:ext cx="27432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5486400"/>
            <a:ext cx="2743200" cy="3200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5504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SHGO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Bom p/ espaços pequenos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📌 Para superfícies não-convexas (comuns em processos), o evolucionário é mais seguro.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— 5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40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Metamodelo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RandomForestRegressor(200)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71800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fun = lambda x: -model.predict([x])[0]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49039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947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Restrições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947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bounds=[(70,130), (5,12)]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526279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5719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719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Otimizar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719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differential_evolution(fun, bounds)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30352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Validar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49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superfície 3D + simulação/planta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Comparando Métodos — 4 Grupos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ADCFC"/>
                </a:solidFill>
                <a:latin typeface="Calibri"/>
              </a:defRPr>
            </a:pPr>
            <a:r>
              <a:t>Nelder-Mead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004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ótimo encontrou?</a:t>
            </a:r>
            <a:br/>
            <a:r>
              <a:t>Convergiu rápido?</a:t>
            </a:r>
            <a:br/>
            <a:r>
              <a:t>Parou em local?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ADCFC"/>
                </a:solidFill>
                <a:latin typeface="Calibri"/>
              </a:defRPr>
            </a:pPr>
            <a:r>
              <a:t>BFGS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2004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ótimo encontrou?</a:t>
            </a:r>
            <a:br/>
            <a:r>
              <a:t>Convergiu rápido?</a:t>
            </a:r>
            <a:br/>
            <a:r>
              <a:t>Parou em local?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ADCFC"/>
                </a:solidFill>
                <a:latin typeface="Calibri"/>
              </a:defRPr>
            </a:pPr>
            <a:r>
              <a:t>differential_evolution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2004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ótimo encontrou?</a:t>
            </a:r>
            <a:br/>
            <a:r>
              <a:t>Convergiu rápido?</a:t>
            </a:r>
            <a:br/>
            <a:r>
              <a:t>Parou em local?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ADCFC"/>
                </a:solidFill>
                <a:latin typeface="Calibri"/>
              </a:defRPr>
            </a:pPr>
            <a:r>
              <a:t>SHGO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32004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Qual ótimo encontrou?</a:t>
            </a:r>
            <a:br/>
            <a:r>
              <a:t>Convergiu rápido?</a:t>
            </a:r>
            <a:br/>
            <a:r>
              <a:t>Parou em local?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🧠  Por que o BFGS para em local e o differential_evolution acha o global?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 Perigo de Otimizar o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Otimizador pode explorar região onde o modelo ALUCINA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O ótimo 'perfeito' pode ser um pico estreito do modelo (não da planta)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Se o modelo erra 2%, o ótimo real desloca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MITIGAÇÃO: buscar região PLANA e robusta, não o pico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SEMPRE validar: simulação + plano de testes na planta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📌  Valide o ótimo em uma GRADE mais fina do modelo antes de aplicar na planta.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Otimizar a Coluna de Destilação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Use coluna_destilacao_30dias.csv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Metamodelo XGBoost: pureza = f(R_refluxo, T_top, P_coluna)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Otimize R_refluxo p/ maximizar pureza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Restrição: R_refluxo &lt; 8 (custo energético)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Valide o ótimo na superfície do modelo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16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Multiobjetivo — maximizar pureza E minimizar refluxo. Plote a fronteira de Pareto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Controle Preditivo (MPC) — modelos dentro da malha de controle!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