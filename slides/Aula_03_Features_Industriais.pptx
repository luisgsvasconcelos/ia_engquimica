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Engenharia de Features</a:t>
            </a:r>
            <a:br/>
            <a:r>
              <a:t>Industriais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03 — Lags, médias móveis e alinhamento temporal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Lags  •  Médias Móveis  •  Taxa de Variação  •  Resample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Luis Vasconcelos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O Que o Passado Diz Sobre o Futuro?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438912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80" y="1874519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 — T_top vs Composição (sem 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4688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Temperatura de TOPO agora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Composição de SAÍDA agora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Correlação fraca (R ~ 0.2)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Por quê? O processo tem atraso!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438912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874519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 — T_top(lag 3) vs Composição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4688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Temperatura de 30 min atrás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Composição de AGORA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Correlação forte (R ~ 0.7)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O lag captura a dinâmica!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"Um modelo sem lags é surdo à dinâmica do processo."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"Se a temperatura de topo agora afeta</a:t>
            </a:r>
            <a:br/>
            <a:r>
              <a:t>a composição daqui a 3 minutos,</a:t>
            </a:r>
            <a:br/>
            <a:r>
              <a:t>qual o lag ideal?</a:t>
            </a:r>
            <a:br/>
            <a:r>
              <a:t>E se o processo tem atraso de transporte de 7 minutos?"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3891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💡 Pense: o tempo de residência do reator determina o lag relevante.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Três Tipos de Features Temporais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274320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2743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63040" y="1874519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🔙  Lag (Defasagem)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6888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X_{t-k} = valor k passos atrás</a:t>
            </a:r>
            <a:br/>
            <a:br/>
            <a:r>
              <a:t>Ex: T_reator_lag1 = T de 10 min atrás</a:t>
            </a:r>
            <a:br/>
            <a:br/>
            <a:r>
              <a:t>Captura: memória do processo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828800"/>
            <a:ext cx="274320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0" y="1828800"/>
            <a:ext cx="27432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1874519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📊  Média Móvel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46888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X̄_t = média dos últimos n valores</a:t>
            </a:r>
            <a:br/>
            <a:br/>
            <a:r>
              <a:t>Ex: T_reator_ma5 = média(últimos 5)</a:t>
            </a:r>
            <a:br/>
            <a:br/>
            <a:r>
              <a:t>Captura: tendência recente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828800"/>
            <a:ext cx="274320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0" y="1828800"/>
            <a:ext cx="2743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0" y="1874519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📈  Taxa de Variação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46888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ΔX_t = X_t − X_{t-1}</a:t>
            </a:r>
            <a:br/>
            <a:br/>
            <a:r>
              <a:t>Ex: dT = T_atual − T_anterior</a:t>
            </a:r>
            <a:br/>
            <a:br/>
            <a:r>
              <a:t>Captura: velocidade de mudança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Autocorrelação — Escolhendo os Lags Certos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ACF mede: quão similar X(t) é com X(t-k)?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ACF alto no lag k → aquele lag contém informação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ACF baixo → o lag não ajuda (ruído)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Regra prática: use lags onde ACF &gt; 1.96/√N (95% confiança)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Como interpretar o ACF de uma variável de processo: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4572000"/>
            <a:ext cx="9144000" cy="1645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54480" y="46634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Exemplo: T_reator de um CSTR (τ = 12 min, amostragem 10 min)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512064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onsolas"/>
              </a:defRPr>
            </a:pPr>
            <a:r>
              <a:t>Lag 1 (10 min):  ACF = 0.85 → MUITO informativo (dentro do tempo de residência)</a:t>
            </a:r>
            <a:br/>
            <a:r>
              <a:t>Lag 2 (20 min):  ACF = 0.60 → informativo (ainda relevante)</a:t>
            </a:r>
            <a:br/>
            <a:r>
              <a:t>Lag 3 (30 min):  ACF = 0.25 → pouco informativo (fora da janela dinâmica)</a:t>
            </a:r>
            <a:br/>
            <a:r>
              <a:t>Lag 7 (70 min):  ACF = 0.02 → ruído (descartar)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Alinhamento de Taxas Mistas — Resample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438912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80" y="1874519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Problema: 2 Frequências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4688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Sensor T_reator: 1 leitura/min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Laboratório conversão: 1 leitura/10 min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→ 10 linhas de sensor para 1 de lab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Não dá para modelar diretamente!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Precisamos alinhar as escalas temporais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438912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53514" y="189738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Solução: Resample (downsample)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4688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df.resample('10min').mean()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Média de 10 leituras de sensor = 1 valor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Agora: 1 linha de sensor = 1 de lab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join() → DataFrame único alinhado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Perdemos resolução, ganhamos consistência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81514" y="5303519"/>
            <a:ext cx="9144000" cy="13716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74308" y="5394959"/>
            <a:ext cx="8686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DBEE5"/>
                </a:solidFill>
                <a:latin typeface="Consolas"/>
              </a:defRPr>
            </a:pPr>
            <a:r>
              <a:rPr dirty="0"/>
              <a:t># Resample para 10 min</a:t>
            </a:r>
            <a:br>
              <a:rPr dirty="0"/>
            </a:br>
            <a:r>
              <a:rPr dirty="0"/>
              <a:t>df_proc_10min = </a:t>
            </a:r>
            <a:r>
              <a:rPr dirty="0" err="1"/>
              <a:t>df_proc.resample</a:t>
            </a:r>
            <a:r>
              <a:rPr dirty="0"/>
              <a:t>('10min').mean()</a:t>
            </a:r>
            <a:br>
              <a:rPr dirty="0"/>
            </a:br>
            <a:br>
              <a:rPr dirty="0"/>
            </a:br>
            <a:r>
              <a:rPr dirty="0"/>
              <a:t># </a:t>
            </a:r>
            <a:r>
              <a:rPr dirty="0" err="1"/>
              <a:t>Juntar</a:t>
            </a:r>
            <a:r>
              <a:rPr dirty="0"/>
              <a:t> com target do </a:t>
            </a:r>
            <a:r>
              <a:rPr dirty="0" err="1"/>
              <a:t>laboratório</a:t>
            </a:r>
            <a:br>
              <a:rPr dirty="0"/>
            </a:br>
            <a:r>
              <a:rPr dirty="0" err="1"/>
              <a:t>df</a:t>
            </a:r>
            <a:r>
              <a:rPr dirty="0"/>
              <a:t> = df_proc_10min.join(</a:t>
            </a:r>
            <a:r>
              <a:rPr dirty="0" err="1"/>
              <a:t>df_lab</a:t>
            </a:r>
            <a:r>
              <a:rPr dirty="0"/>
              <a:t>, how='inner')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Pipeline de Feature Engineering — 7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828800" y="1828800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187451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87451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Identificar frequência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onsolas"/>
              </a:defRPr>
            </a:pPr>
            <a:r>
              <a:t>1 min (sensor), 10 min (lab)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468880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28800" y="2514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Resample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514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onsolas"/>
              </a:defRPr>
            </a:pPr>
            <a:r>
              <a:t>df.resample('10min').mean()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108960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28800" y="315467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1546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Criar lags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15467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onsolas"/>
              </a:defRPr>
            </a:pPr>
            <a:r>
              <a:t>shift(1), shift(2), shift(3)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3749039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828800" y="379475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79475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Média móvel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9475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onsolas"/>
              </a:defRPr>
            </a:pPr>
            <a:r>
              <a:t>rolling(3).mean()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4389120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828800" y="44348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4434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Taxa de variação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434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onsolas"/>
              </a:defRPr>
            </a:pPr>
            <a:r>
              <a:t>diff() — derivada discreta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5029200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828800" y="5074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5074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Combinar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5074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onsolas"/>
              </a:defRPr>
            </a:pPr>
            <a:r>
              <a:t>Features + target → 1 DF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0" y="5669279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828800" y="571499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571499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Validar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571499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onsolas"/>
              </a:defRPr>
            </a:pPr>
            <a:r>
              <a:t>dropna(), verificar leakage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🖥️  Prática: Features para um Reator CSTR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Cenário: CSTR de etoxilação — sensor (1/min) + lab (1/10min). Crie um soft-sensor!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Carregue cstr_processo_1min.csv e cstr_lab_10min.csv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Alinhe com resample('10min').mean()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Crie lags de T_reator: shift(1), shift(2), shift(3)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Crie média móvel: rolling(3).mean()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Crie taxa de variação: diff()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Repita para vazão de alimentação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Combine tudo + target (conversão) em 1 DataFrame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303520"/>
            <a:ext cx="9144000" cy="109728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54480" y="539496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DBEE5"/>
                </a:solidFill>
                <a:latin typeface="Consolas"/>
              </a:defRPr>
            </a:pPr>
            <a:r>
              <a:t>df['T_reator_lag1'] = df['T_reator'].shift(1)</a:t>
            </a:r>
            <a:br/>
            <a:r>
              <a:t>df['T_reator_ma3']  = df['T_reator'].rolling(3).mean()</a:t>
            </a:r>
            <a:br/>
            <a:r>
              <a:t>df['dT_reator']       = df['T_reator'].diff()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🔍  Selecionando as Melhores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Calcule df.corr()['conversao'].sort_values(ascending=False)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Identifique as 5 features mais correlacionadas com a conversão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Para cada uma: 1 frase explicando por que faz sentido fisicamente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Há alguma feature que você esperava no top-5 e não está? Por quê?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11480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D29922"/>
                </a:solidFill>
                <a:latin typeface="Calibri"/>
              </a:defRPr>
            </a:pPr>
            <a:r>
              <a:t>🧠  Desafio NT: Se τ = 12 min e amostragem = 10 min,</a:t>
            </a:r>
            <a:br/>
            <a:r>
              <a:t>o lag k=2 (20 min) captura mais ou menos informação que k=1 (10 min)?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5029200"/>
            <a:ext cx="914400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554480" y="507492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☐ alinhamento temporal OK  ☐ lags criados  ☐ médias móveis  ☐ taxa de variação</a:t>
            </a:r>
            <a:br/>
            <a:r>
              <a:t>☐ matriz de correlação  ☐ top-5 identificadas  ☐ 1 parágrafo de interpretação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📋  Tarefa: Feature Engineering para Trocador de Calor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Carregue dados do trocador (30s) + coeficiente_U (semanal)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Alinhe: agregue features por semana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Crie ≥ 6 features (lags, médias, derivadas)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Calcule correlação com coeficiente_U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Identifique top-3 features e justifique (1 parágrafo)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Plote: coeficiente_U real vs. feature mais correlacionada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Entregue via Colab — Prazo: antes da Aula 4 (7 dias)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75488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80" y="48006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🧠 Bônus NT: EWMA (média móvel exponencial) vs. média simples — qual captura melhor a incrustação? (+20%)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577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761"/>
                </a:solidFill>
                <a:latin typeface="Calibri"/>
              </a:defRPr>
            </a:pPr>
            <a:r>
              <a:t>Próxima aula: Análise Exploratória e Visualização — heatmaps, scatter plots, séries temporais.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1100</Words>
  <Application>Microsoft Office PowerPoint</Application>
  <PresentationFormat>Widescreen</PresentationFormat>
  <Paragraphs>97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Luis Vasconcelos</cp:lastModifiedBy>
  <cp:revision>2</cp:revision>
  <dcterms:created xsi:type="dcterms:W3CDTF">2013-01-27T09:14:16Z</dcterms:created>
  <dcterms:modified xsi:type="dcterms:W3CDTF">2026-08-26T13:28:03Z</dcterms:modified>
  <cp:category/>
</cp:coreProperties>
</file>