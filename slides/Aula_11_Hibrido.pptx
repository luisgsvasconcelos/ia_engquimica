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Modelagem Híbrida</a:t>
            </a:r>
            <a:br/>
            <a:r>
              <a:t>e Caixa Cinza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11 — Balanço fundamental +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Caixa Branca  •  Preta  •  Cinza  •  Extrapolação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Luis Vasconcelos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As Limitações dos Dois Extremos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4389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38912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0574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Modelo Fenomenológico (Caixa Branca)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Balanços de massa e energia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Preciso, mas...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Parâmetros desconhecidos (k, U, Cₚ)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Aproximações inevitáveis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Fenômenos não modelados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4389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438912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Modelo de Dados (Caixa Preta)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060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ML (XGBoost, MLP)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Excelente em interpolação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Mas...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Extrapolação perigosa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Sem consistência física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Pode predizer absurdos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"E se combinarmos os dois? O melhor dos dois mundos."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"No modelo híbrido, o ML não estima</a:t>
            </a:r>
            <a:br/>
            <a:r>
              <a:t>a saída — estima um parâmetro físico</a:t>
            </a:r>
            <a:br/>
            <a:r>
              <a:t>(k, U). Se o ML estimar k com 20%</a:t>
            </a:r>
            <a:br/>
            <a:r>
              <a:t>de erro, o balanço de massa</a:t>
            </a:r>
            <a:br/>
            <a:r>
              <a:t>filtra ou amplifica o erro?"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3891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💡 Pense: o balanço é uma função 'estável' do parâmetro?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Três Paradigmas de Modelagem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011680"/>
            <a:ext cx="274320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2011680"/>
            <a:ext cx="2743200" cy="4114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20299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Caixa Branca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514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Fenomenológico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48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90D9"/>
                </a:solidFill>
                <a:latin typeface="Consolas"/>
              </a:defRPr>
            </a:pPr>
            <a:r>
              <a:t>dC/dt = −k(T)·C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97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Equações reais, parâmetros difíceis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474720"/>
            <a:ext cx="274320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0" y="3474720"/>
            <a:ext cx="2743200" cy="41148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34930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Caixa Preta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977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611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957E5"/>
                </a:solidFill>
                <a:latin typeface="Consolas"/>
              </a:defRPr>
            </a:pPr>
            <a:r>
              <a:t>Ĉ = f(T, F, 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60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Sem física, só padrões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937760"/>
            <a:ext cx="274320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4937760"/>
            <a:ext cx="2743200" cy="41148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49560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Caixa Cinza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440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Híbrido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074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8636"/>
                </a:solidFill>
                <a:latin typeface="Consolas"/>
              </a:defRPr>
            </a:pPr>
            <a:r>
              <a:t>dC/dt = −k_ML(T)·C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623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Balanço + ML estima 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O Balanço de Massa do CSTR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onsolas"/>
              </a:defRPr>
            </a:pPr>
            <a:r>
              <a:t>Balanço geral:   V·dCᴀ/dt = F·C₀ − F·Cᴀ − V·k·Cᴀ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Calibri"/>
              </a:defRPr>
            </a:pPr>
            <a:r>
              <a:t>Est. estacionário (d/dt = 0):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291840"/>
            <a:ext cx="64008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33375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ADCFC"/>
                </a:solidFill>
                <a:latin typeface="Consolas"/>
              </a:defRPr>
            </a:pPr>
            <a:r>
              <a:t>Cᴀ = F·C₀ / (F + V·k)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Calibri"/>
              </a:defRPr>
            </a:pPr>
            <a:r>
              <a:t>Isolando a constante cinética (o que queremos estimar):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937760"/>
            <a:ext cx="6400800" cy="64008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49834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k = F·(C₀ − Cᴀ) / (V·Cᴀ)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 Parâmetro Desconhecido: k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k depende da temperatura — Arrhenius: k = A·e^(−Ea/RT)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A e Ea são DESCONHECIDOS para este reator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Não podemos calcular k de primeira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Mas podemos CALCULAR k dos dados medidos!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114800"/>
            <a:ext cx="9144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16052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8636"/>
                </a:solidFill>
                <a:latin typeface="Consolas"/>
              </a:defRPr>
            </a:pPr>
            <a:r>
              <a:t>Solução híbrida:</a:t>
            </a:r>
            <a:br/>
            <a:r>
              <a:t>ML aprende:  k̂ = f_ML(T, F, C₀)</a:t>
            </a:r>
            <a:br/>
            <a:r>
              <a:t>Depois:       Ĉᴀ = F·C₀ / (F + V·k̂)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Calibri"/>
              </a:defRPr>
            </a:pPr>
            <a:r>
              <a:t>O modelo final RESPEITA o balanço de massa!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Por que o Híbrido Generaliza Melhor?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4389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38912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0574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ML Puro (140°C fora do treino)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Treinado em 80-120°C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A 130°C, o quê prediz?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Pode predizer absurdo (extrapolação)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Sem conhecimento físico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Nunca viu esse regime!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4389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Híbrido (mesmo caso)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060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Balanço de massa é o 'esqueleto'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Sabe que Cᴀ não pode ser negativa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Sabe que k cresce com T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Mesmo sem ver 130°C, prediz</a:t>
            </a:r>
            <a:br/>
            <a:r>
              <a:t>plausível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A física 'guia' a extrapolação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O balanço dá a ESTRUTURA, o ML ajusta o PARÂMETRO.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Pipeline do Modelo Híbrido — 5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194560"/>
            <a:ext cx="4572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40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24027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Balanço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7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Escrever equações de massa/energia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971800"/>
            <a:ext cx="457200" cy="548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Parâmetro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0175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Identificar k (ou U) desconhecido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749039"/>
            <a:ext cx="457200" cy="548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7947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79475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k_real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947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Calcular k dos dados: k = F(C₀−C)/VC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526279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5719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57199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ML treina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57199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f_ML: (T, F, C₀) → 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5303520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5349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Acoplar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349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ML → k → balanço → Ĉₐ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Extrapolação — Teste de Estresse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ADCFC"/>
                </a:solidFill>
                <a:latin typeface="Calibri"/>
              </a:defRPr>
            </a:pPr>
            <a:r>
              <a:t>Dataset de teste: temperaturas de 125-135°C — FORA da faixa de treino (70-120°C)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8B949E"/>
                </a:solidFill>
                <a:latin typeface="Calibri"/>
              </a:defRPr>
            </a:pPr>
            <a:r>
              <a:t>▸  Teste os 3 modelos (branco, preto, híbrido) na extrapolação</a:t>
            </a:r>
          </a:p>
          <a:p>
            <a:pPr>
              <a:spcAft>
                <a:spcPts val="1000"/>
              </a:spcAft>
              <a:defRPr sz="1900">
                <a:solidFill>
                  <a:srgbClr val="8B949E"/>
                </a:solidFill>
                <a:latin typeface="Calibri"/>
              </a:defRPr>
            </a:pPr>
            <a:r>
              <a:t>▸  Qual modelo DEGRADOU mais?</a:t>
            </a:r>
          </a:p>
          <a:p>
            <a:pPr>
              <a:spcAft>
                <a:spcPts val="1000"/>
              </a:spcAft>
              <a:defRPr sz="1900">
                <a:solidFill>
                  <a:srgbClr val="8B949E"/>
                </a:solidFill>
                <a:latin typeface="Calibri"/>
              </a:defRPr>
            </a:pPr>
            <a:r>
              <a:t>▸  O híbrido ainda é razoável? Por quê?</a:t>
            </a:r>
          </a:p>
          <a:p>
            <a:pPr>
              <a:spcAft>
                <a:spcPts val="1000"/>
              </a:spcAft>
              <a:defRPr sz="1900">
                <a:solidFill>
                  <a:srgbClr val="8B949E"/>
                </a:solidFill>
                <a:latin typeface="Calibri"/>
              </a:defRPr>
            </a:pPr>
            <a:r>
              <a:t>▸  O balanço 'preserva' a física fora do domínio?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846320"/>
            <a:ext cx="9144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489204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29922"/>
                </a:solidFill>
                <a:latin typeface="Calibri"/>
              </a:defRPr>
            </a:pPr>
            <a:r>
              <a:t>🧠 Desafio NT: Se o balanço assumir V constante (reator não-ideal),</a:t>
            </a:r>
            <a:br/>
            <a:r>
              <a:t>o híbrido degrada? Como melhorar?</a:t>
            </a:r>
            <a:br/>
            <a:br/>
            <a:r>
              <a:t>📈 Meta: o híbrido deve ter RMSE menor que o ML puro na extrapolação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📋  Tarefa: Híbrido para Trocador de Calor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Use trocador_hibrido.csv (T_ent, T_sai, mdot, Q)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Calcule U_real do balanço: U = Q/(A·ΔT_ml)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Treine ML para estimar U a partir de mdot e T_ent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Use U estimado para predizer T_saída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Compare: híbrido vs ML direto vs U constante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Em qual regime o híbrido é mais vantajoso?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Entregue via Colab — Prazo: antes da Aula 12 (7 dias)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892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 Bônus NT: Dados de incrustação (U cai 30%) — ML captura o drift? Sem feature de tempo? (+20%)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Próxima aula: Lab Prático 3 — implementar o modelo híbrido na prática!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