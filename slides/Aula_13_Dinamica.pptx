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Dinâmica de Processos</a:t>
            </a:r>
            <a:br/>
            <a:r>
              <a:t>e Séries Temporais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13 — Atraso, inércia e introdução às LSTM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FOPDT  •  τ, θ, Kp  •  Lags  • 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Tempo Não Para na Planta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Até agora: cada linha é INDEPENDENTE. Mas a composição de agora responde à vazão de ATRÁS.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⚡  Instantâneo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Sensor rápido</a:t>
            </a:r>
            <a:br/>
            <a:r>
              <a:t>responde na hora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7432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⏳  Atraso (θ)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Composição muda</a:t>
            </a:r>
            <a:br/>
            <a:r>
              <a:t>após 10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432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🛢️  Inércia (τ)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Temperatura sobe</a:t>
            </a:r>
            <a:br/>
            <a:r>
              <a:t>com atraso de 1ª ordem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"Qual desses um MLP ou XGBoost aprende SEM lags?" — apenas o instantâneo.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"A constante de tempo τ = V/F de um CSTR é 10 min.</a:t>
            </a:r>
            <a:br/>
            <a:r>
              <a:t>Se o atraso de transporte θ = 15 min,</a:t>
            </a:r>
            <a:br/>
            <a:r>
              <a:t>o que acontece quando você tenta controlar</a:t>
            </a:r>
            <a:br/>
            <a:r>
              <a:t>a composição com um PID?"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se θ &gt; τ, o controlador 'briga' com o atraso → instabilidade.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Modelo FOPDT — Primeira Ordem + Atraso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  <a:latin typeface="Consolas"/>
              </a:defRPr>
            </a:pPr>
            <a:r>
              <a:t>τ·dy/dt + y = Kp·u(t−θ)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"O cavalo de batalha do engenheiro de processos — descreve 80% dos processos químicos."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38328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38328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τ — Constante de tempo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9319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Inércia — CSTR: τ = V/F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38328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33832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θ — Atraso de transporte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9319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Tempo do fluido na tubulação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383280"/>
            <a:ext cx="27432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3832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Kp — Ganho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93192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Variação da saída por unidade de entrada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Por que a MLP Falha em Dinâmica?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MLP não tem MEMÓRIA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Para capturar dinâmica, precisa de lags (U_{t-1}, U_{t-2}...)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Se θ = 15 min e amostragem = 1 min → precisa de 15 lags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Com 15+ lags, a MLP sofre com maldição da dimensionalidade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Quantos lags? Você precisa SABER (θ + 3τ)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00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LSTM resolve: memória interna aprende quantos passos de história importam.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MLP + Lags vs LSTM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74519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Aspecto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MLP + 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LSTM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331720"/>
            <a:ext cx="9144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39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Memória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7743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Explícita (você define lags)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37743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Interna (aprende)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834640"/>
            <a:ext cx="9144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Nº lags p/ θ=15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803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15+ features (maldição)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8803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Nenhum lags explícito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337560"/>
            <a:ext cx="9144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383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Overfitting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Alto com muitos lags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Controlável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3840480"/>
            <a:ext cx="9144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Dinâmica longa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86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Difícil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886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Natural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343400"/>
            <a:ext cx="9144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3891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Tuning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3891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Escolher nº de lags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3891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Escolher janela/épocas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para Modelagem Dinâmica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40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402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Dinâmico?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402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Série temporal tem tendência?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9718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Estimar θ, 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17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Visual na resposta ao degrau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4903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Criar lags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7947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Até θ + 3τ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262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5719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57199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Lags demais?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5719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→ usar LSTM (memória)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534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349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Validar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5349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onsolas"/>
              </a:defRPr>
            </a:pPr>
            <a:r>
              <a:t>Predição multi-passos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🖥️  Prática: Simular FOPDT + MLP com Lags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Cenário: CSTR com τ=10min, θ=5min. Vazão varia em degraus aleatórios.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Carregue reator_dinamico.csv (simulado FOPDT)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Plote F e CA — identifique visualmente θ e τ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Crie lags de F: shift(1), 5, 10, 15, 20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Treine MLPRegressor com os lags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Calcule RMSE — quantos lags necessários?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9144000" cy="12801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1206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DBEE5"/>
                </a:solidFill>
                <a:latin typeface="Consolas"/>
              </a:defRPr>
            </a:pPr>
            <a:r>
              <a:t>for lag in [1, 5, 10, 15, 20]:</a:t>
            </a:r>
            <a:br/>
            <a:r>
              <a:t>    df[f'F_lag{lag}'] = df['F'].shift(lag)</a:t>
            </a:r>
            <a:br/>
            <a:br/>
            <a:r>
              <a:t>mlp = MLPRegressor(hidden_layer_sizes=(32, 16), max_iter=500)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Quantos Lags? — 4 Grupos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Lags:</a:t>
            </a:r>
            <a:br/>
            <a:r>
              <a:t>[1, 2,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383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θ = 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grupo tem menor RMSE?</a:t>
            </a:r>
            <a:br/>
            <a:r>
              <a:t>Quando o ganho satura?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5603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Lags:</a:t>
            </a:r>
            <a:br/>
            <a:r>
              <a:t>[1, 5, 10, 15, 20]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3383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θ = 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38404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grupo tem menor RMSE?</a:t>
            </a:r>
            <a:br/>
            <a:r>
              <a:t>Quando o ganho satura?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5603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Lags:</a:t>
            </a:r>
            <a:br/>
            <a:r>
              <a:t>[1, 5, 10, 15, 20, 30, 40]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383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θ = 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38404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grupo tem menor RMSE?</a:t>
            </a:r>
            <a:br/>
            <a:r>
              <a:t>Quando o ganho satura?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999" y="25603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Lags:</a:t>
            </a:r>
            <a:br/>
            <a:r>
              <a:t>[1, 5, 10, 15, 20]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3383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θ = 15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9" y="38404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grupo tem menor RMSE?</a:t>
            </a:r>
            <a:br/>
            <a:r>
              <a:t>Quando o ganho satura?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29922"/>
                </a:solidFill>
                <a:latin typeface="Calibri"/>
              </a:defRPr>
            </a:pPr>
            <a:r>
              <a:t>🧠  Desafio: E se θ=30min? → 30 lags → LSTM faz sentido.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Identificação FOPDT de um Processo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Carregue reator_dinamico.csv (degraus na vazão)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Plote a série — identifique os degraus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Isole UM degrau e estime Kp, τ, θ (tangente / 63.2%)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Simule FOPDT com esses parâmetros e sobreponha ao real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Calcule RMSE do FOPDT vs dados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Treine MLP + lags — a MLP é melhor que o FOPDT?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14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O processo NÃO é FOPDT (2ª ordem)? Use scipy find_peaks p/ oscilações → frequência natural, amortecimento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Lab — LSTM com Keras para predizer dinâmica do CSTR!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