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Implantação e</a:t>
            </a:r>
            <a:br/>
            <a:r>
              <a:t>Governança de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21 - O modelo não implanta sozinho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4 fases  •  ROI  •  Champion/Challenger  •  Rollback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[Seu Nome]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O Modelo Não Implanta Sozinho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920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O modelo está pronto, RMSE=0.8%, alvo=1.0%. Por que o gerente ainda não aprovou?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743200"/>
            <a:ext cx="91440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743200"/>
            <a:ext cx="914400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788920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Caso real (anônimo)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2918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Soft-sensor com R²=0.95 nos testes off-line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3 meses tentando integrar com o PIMS legado (AS/400, só CSV)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Projeto CANCELADO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03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2761"/>
                </a:solidFill>
                <a:latin typeface="Calibri"/>
              </a:defRPr>
            </a:pPr>
            <a:r>
              <a:t>"Onde o processo MORREU?"  →  ML é 10% do esforço; 90% é implantação.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"Custo do retreino mensal = R$5.000.</a:t>
            </a:r>
            <a:br/>
            <a:r>
              <a:t>Benefício = R$3.000/mês.</a:t>
            </a:r>
            <a:br/>
            <a:r>
              <a:t>O projeto é VIÁVEL?</a:t>
            </a:r>
            <a:br/>
            <a:r>
              <a:t>O que está faltando nessa conta?"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5720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Faltam: equipamentos, infra, equipe, energia, tempo da equipe...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As 4 Muralhas da Implantação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365760" cy="914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21031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1. Qualidade de dados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5146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6 meses; valores congelados; OPC-UA cai 1%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063240"/>
            <a:ext cx="91440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3063240"/>
            <a:ext cx="365760" cy="9144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3154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2. Conectividade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35661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Firewall; latência; edge vs cloud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71600" y="4114800"/>
            <a:ext cx="365760" cy="9144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3. Integração legado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6177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PIMS que só aceita 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5166360"/>
            <a:ext cx="91440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0" y="5166360"/>
            <a:ext cx="365760" cy="9144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0240" y="52578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4. Governança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6692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Aprovação, retreino, rollback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Edge × 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389120" cy="3474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51760"/>
            <a:ext cx="4023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ADCFC"/>
                </a:solidFill>
                <a:latin typeface="Calibri"/>
              </a:defRPr>
            </a:pPr>
            <a:r>
              <a:t>• local, na planta</a:t>
            </a:r>
            <a:br/>
            <a:r>
              <a:t>• R$12k/mês • latência 50ms</a:t>
            </a:r>
            <a:br/>
            <a:r>
              <a:t>• controle &lt;200ms; sem depender de internet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4389120" cy="3474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011680"/>
            <a:ext cx="438912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CLOUD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023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ADCFC"/>
                </a:solidFill>
                <a:latin typeface="Calibri"/>
              </a:defRPr>
            </a:pPr>
            <a:r>
              <a:t>• centralizado, escalável</a:t>
            </a:r>
            <a:br/>
            <a:r>
              <a:t>• R$4k/mês • latência 500ms</a:t>
            </a:r>
            <a:br/>
            <a:r>
              <a:t>• dashboard + treino pesado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58064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29922"/>
                </a:solidFill>
                <a:latin typeface="Calibri"/>
              </a:defRPr>
            </a:pPr>
            <a:r>
              <a:t>Se controle exige &lt;200ms → escolha EDGE (mesmo custando mais)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Plano de Implantação — 4 Fases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103120"/>
            <a:ext cx="9144000" cy="777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103120"/>
            <a:ext cx="457200" cy="777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94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Off-line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194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Validar com 6 meses de histórico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194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8636"/>
                </a:solidFill>
                <a:latin typeface="Calibri"/>
              </a:defRPr>
            </a:pPr>
            <a:r>
              <a:t>MAPE ≤ 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17520"/>
            <a:ext cx="9144000" cy="777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71600" y="3017520"/>
            <a:ext cx="457200" cy="7772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3108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10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Shadow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108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Roda em paralelo, sem influenciar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8636"/>
                </a:solidFill>
                <a:latin typeface="Calibri"/>
              </a:defRPr>
            </a:pPr>
            <a:r>
              <a:t>diff ≤ 1.5%/30d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3931920"/>
            <a:ext cx="9144000" cy="777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0" y="3931920"/>
            <a:ext cx="457200" cy="7772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402335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02335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Assistida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02335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Modelo sugere, operador valida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02335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8636"/>
                </a:solidFill>
                <a:latin typeface="Calibri"/>
              </a:defRPr>
            </a:pPr>
            <a:r>
              <a:t>≥85% aceitas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846320"/>
            <a:ext cx="9144000" cy="777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71600" y="4846320"/>
            <a:ext cx="457200" cy="7772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3040" y="493775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93775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Autônoma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493775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Modelo atua, com rollback pronto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93775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8636"/>
                </a:solidFill>
                <a:latin typeface="Calibri"/>
              </a:defRPr>
            </a:pPr>
            <a:r>
              <a:t>rollback &lt; 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949E"/>
                </a:solidFill>
                <a:latin typeface="Calibri"/>
              </a:defRPr>
            </a:pPr>
            <a:r>
              <a:t>Pular a fase 2 (shadow) é a maior fonte de acidente em implantação.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Análise de ROI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Produção=100.000 t/ano • R$800/t • perdas evitáveis 0.8% do faturamento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t>Cenário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377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t>Redução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377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t>Economia/ano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377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t>ROI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377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t>Payback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pessimista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0.1%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R$ 80k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negativo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474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realista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474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0.25%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R$160k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474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~67%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474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~7 meses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0233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otimista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0233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0.5%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0233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R$320k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0233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~233%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40233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 meses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0" y="4572000"/>
            <a:ext cx="91440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4480" y="46634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Custo total ~R$96k/ano (edge, retreino, equipe) → ROI realista 67%, payback 7m → VIÁVEL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Governança: Champion/Challenger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ADCFC"/>
                </a:solidFill>
                <a:latin typeface="Consolas"/>
              </a:defRPr>
            </a:pPr>
            <a:r>
              <a:t>Implantar challenger ⟺ MSE_challenger_shadow &lt; MSE_champion − 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8B949E"/>
                </a:solidFill>
                <a:latin typeface="Calibri"/>
              </a:defRPr>
            </a:pPr>
            <a:r>
              <a:t>▸  Champion = modelo em produção</a:t>
            </a:r>
          </a:p>
          <a:p>
            <a:pPr>
              <a:spcAft>
                <a:spcPts val="1000"/>
              </a:spcAft>
              <a:defRPr sz="1800">
                <a:solidFill>
                  <a:srgbClr val="8B949E"/>
                </a:solidFill>
                <a:latin typeface="Calibri"/>
              </a:defRPr>
            </a:pPr>
            <a:r>
              <a:t>▸  Challenger = novo modelo em shadow mode</a:t>
            </a:r>
          </a:p>
          <a:p>
            <a:pPr>
              <a:spcAft>
                <a:spcPts val="1000"/>
              </a:spcAft>
              <a:defRPr sz="1800">
                <a:solidFill>
                  <a:srgbClr val="8B949E"/>
                </a:solidFill>
                <a:latin typeface="Calibri"/>
              </a:defRPr>
            </a:pPr>
            <a:r>
              <a:t>▸  ε = margem de segurança (10%) p/ não promover por ruído</a:t>
            </a:r>
          </a:p>
          <a:p>
            <a:pPr>
              <a:spcAft>
                <a:spcPts val="1000"/>
              </a:spcAft>
              <a:defRPr sz="1800">
                <a:solidFill>
                  <a:srgbClr val="8B949E"/>
                </a:solidFill>
                <a:latin typeface="Calibri"/>
              </a:defRPr>
            </a:pPr>
            <a:r>
              <a:t>▸  Se challenger supera por ε → promove</a:t>
            </a:r>
          </a:p>
          <a:p>
            <a:pPr>
              <a:spcAft>
                <a:spcPts val="1000"/>
              </a:spcAft>
              <a:defRPr sz="1800">
                <a:solidFill>
                  <a:srgbClr val="8B949E"/>
                </a:solidFill>
                <a:latin typeface="Calibri"/>
              </a:defRPr>
            </a:pPr>
            <a:r>
              <a:t>▸  Se retreino falha → rollback ao champion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5303520"/>
            <a:ext cx="91440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3949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Drift = inimigo silencioso: planta muda, modelo envelhece. Governança detecta e reverte.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Exercício em Grupo: Barreiras Reais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28600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6032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PIMS só aceita 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9319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micro-serviço escreve CSV + monitora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2011680"/>
            <a:ext cx="228600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2011680"/>
            <a:ext cx="2286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5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256032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Só 2 meses de dados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319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métodos robustos + mais sensores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011680"/>
            <a:ext cx="228600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20116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7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56032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Custo edge vs cloud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9319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controle &lt;200ms → edge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59" y="2011680"/>
            <a:ext cx="228600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59" y="2011680"/>
            <a:ext cx="22860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399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3999" y="256032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Operadores resistentes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shadow visível, treinamento, transparência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761"/>
                </a:solidFill>
                <a:latin typeface="Calibri"/>
              </a:defRPr>
            </a:pPr>
            <a:r>
              <a:t>📋 Tarefa: Plano de Implantação de 1 Página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4 fases com risco e mitigação de cada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ROI em 3 cenários (otimista 20%, realista 10%, pessimista 5% redução)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Governança: quem aprova, retreino, rollback + champion/challenger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Critérios de sucesso mensuráveis por fase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Entregue PDF 1 página + planilha ROI - Prazo: antes da Aula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84632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892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ADCFC"/>
                </a:solidFill>
                <a:latin typeface="Calibri"/>
              </a:defRPr>
            </a:pPr>
            <a:r>
              <a:t>🔍 NT: Análise de sensibilidade do ROI (retreino dobra / economia cai pela metade) — ainda viável?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577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2761"/>
                </a:solidFill>
                <a:latin typeface="Calibri"/>
              </a:defRPr>
            </a:pPr>
            <a:r>
              <a:t>Próxima aula: Ética, Segurança e o papel do engenheiro!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