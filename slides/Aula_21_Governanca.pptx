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Implantação e</a:t>
            </a:r>
            <a:br/>
            <a:r>
              <a:t>Governança de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ADCFC"/>
                </a:solidFill>
                <a:latin typeface="Calibri"/>
              </a:defRPr>
            </a:pPr>
            <a:r>
              <a:t>Aula 21 - O modelo não implanta sozinho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93192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4 fases  •  ROI  •  Champion/Challenger  •  Rollback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Prof. Luis Vasconcelos  |  Duração: 100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761"/>
                </a:solidFill>
                <a:latin typeface="Calibri"/>
              </a:defRPr>
            </a:pPr>
            <a:r>
              <a:t>O Modelo Não Implanta Sozinho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O modelo está pronto, RMSE=0.8%, alvo=1.0%. Por que o gerente ainda não aprovou?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743200"/>
            <a:ext cx="91440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743200"/>
            <a:ext cx="914400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788920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Caso real (anônimo)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29184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Soft-sensor com R²=0.95 nos testes off-line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3 meses tentando integrar com o PIMS legado (AS/400, só CSV)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Projeto CANCELADO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761"/>
                </a:solidFill>
                <a:latin typeface="Calibri"/>
              </a:defRPr>
            </a:pPr>
            <a:r>
              <a:t>"Onde o processo MORREU?"  →  ML é 10% do esforço; 90% é implantação.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Calibri"/>
              </a:defRPr>
            </a:pPr>
            <a:r>
              <a:t>Pergunta Desafio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"Custo do retreino mensal = R$5.000.</a:t>
            </a:r>
            <a:br/>
            <a:r>
              <a:t>Benefício = R$3.000/mês.</a:t>
            </a:r>
            <a:br/>
            <a:r>
              <a:t>O projeto é VIÁVEL?</a:t>
            </a:r>
            <a:br/>
            <a:r>
              <a:t>O que está faltando nessa conta?"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5720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937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💡 Faltam: equipamentos, infra, equipe, energia, tempo da equipe...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761"/>
                </a:solidFill>
                <a:latin typeface="Calibri"/>
              </a:defRPr>
            </a:pPr>
            <a:r>
              <a:t>As 4 Muralhas da Implantação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365760" cy="9144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21031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1. Qualidade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5146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6 meses; valores congelados; OPC-UA cai 1%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063240"/>
            <a:ext cx="91440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3063240"/>
            <a:ext cx="365760" cy="9144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31546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2. Conectividade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35661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Firewall; latência; edge vs cloud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114800"/>
            <a:ext cx="91440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71600" y="4114800"/>
            <a:ext cx="365760" cy="91440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42062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3. Integração legado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46177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PIMS que só aceita CSV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5166360"/>
            <a:ext cx="91440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0" y="5166360"/>
            <a:ext cx="365760" cy="9144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52578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4. Governança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56692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Aprovação, retreino, rollback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Edge × Cloud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4389120" cy="3474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011680"/>
            <a:ext cx="438912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05740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651760"/>
            <a:ext cx="4023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• local, na planta</a:t>
            </a:r>
            <a:br/>
            <a:r>
              <a:t>• R$12k/mês • latência 50ms</a:t>
            </a:r>
            <a:br/>
            <a:r>
              <a:t>• controle &lt;200ms; sem depender de internet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011680"/>
            <a:ext cx="4389120" cy="3474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2011680"/>
            <a:ext cx="438912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5740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CLOUD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651760"/>
            <a:ext cx="4023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• centralizado, escalável</a:t>
            </a:r>
            <a:br/>
            <a:r>
              <a:t>• R$4k/mês • latência 500ms</a:t>
            </a:r>
            <a:br/>
            <a:r>
              <a:t>• dashboard + treino pesado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5760720"/>
            <a:ext cx="914400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58064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29922"/>
                </a:solidFill>
                <a:latin typeface="Calibri"/>
              </a:defRPr>
            </a:pPr>
            <a:r>
              <a:t>Se controle exige &lt;200ms → escolha EDGE (mesmo custando mais)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Plano de Implantação — 4 Fases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103120"/>
            <a:ext cx="9144000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103120"/>
            <a:ext cx="457200" cy="7772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ADCFC"/>
                </a:solidFill>
                <a:latin typeface="Calibri"/>
              </a:defRPr>
            </a:pPr>
            <a:r>
              <a:t>Off-line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194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Validar com 6 meses de histórico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38636"/>
                </a:solidFill>
                <a:latin typeface="Calibri"/>
              </a:defRPr>
            </a:pPr>
            <a:r>
              <a:t>MAPE ≤ 2%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017520"/>
            <a:ext cx="9144000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0" y="3017520"/>
            <a:ext cx="457200" cy="77724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3108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ADCFC"/>
                </a:solidFill>
                <a:latin typeface="Calibri"/>
              </a:defRPr>
            </a:pPr>
            <a:r>
              <a:t>Shadow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108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Roda em paralelo, sem influenciar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108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38636"/>
                </a:solidFill>
                <a:latin typeface="Calibri"/>
              </a:defRPr>
            </a:pPr>
            <a:r>
              <a:t>diff ≤ 1.5%/30d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3931920"/>
            <a:ext cx="9144000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71600" y="3931920"/>
            <a:ext cx="457200" cy="77724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402335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0233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ADCFC"/>
                </a:solidFill>
                <a:latin typeface="Calibri"/>
              </a:defRPr>
            </a:pPr>
            <a:r>
              <a:t>Assistida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02335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Modelo sugere, operador valida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0233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38636"/>
                </a:solidFill>
                <a:latin typeface="Calibri"/>
              </a:defRPr>
            </a:pPr>
            <a:r>
              <a:t>≥85% aceitas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4846320"/>
            <a:ext cx="9144000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71600" y="4846320"/>
            <a:ext cx="457200" cy="77724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3040" y="493775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49377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ADCFC"/>
                </a:solidFill>
                <a:latin typeface="Calibri"/>
              </a:defRPr>
            </a:pPr>
            <a:r>
              <a:t>Autônoma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493775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Modelo atua, com rollback pronto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9377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38636"/>
                </a:solidFill>
                <a:latin typeface="Calibri"/>
              </a:defRPr>
            </a:pPr>
            <a:r>
              <a:t>rollback &lt; 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949E"/>
                </a:solidFill>
                <a:latin typeface="Calibri"/>
              </a:defRPr>
            </a:pPr>
            <a:r>
              <a:t>Pular a fase 2 (shadow) é a maior fonte de acidente em implantação.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761"/>
                </a:solidFill>
                <a:latin typeface="Calibri"/>
              </a:defRPr>
            </a:pPr>
            <a:r>
              <a:t>Análise de ROI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Produção=100.000 t/ano • R$800/t • perdas evitáveis 0.8% do faturamento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761"/>
                </a:solidFill>
                <a:latin typeface="Calibri"/>
              </a:defRPr>
            </a:pPr>
            <a:r>
              <a:t>Cenário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761"/>
                </a:solidFill>
                <a:latin typeface="Calibri"/>
              </a:defRPr>
            </a:pPr>
            <a:r>
              <a:t>Redução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761"/>
                </a:solidFill>
                <a:latin typeface="Calibri"/>
              </a:defRPr>
            </a:pPr>
            <a:r>
              <a:t>Economia/ano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761"/>
                </a:solidFill>
                <a:latin typeface="Calibri"/>
              </a:defRPr>
            </a:pPr>
            <a:r>
              <a:t>ROI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761"/>
                </a:solidFill>
                <a:latin typeface="Calibri"/>
              </a:defRPr>
            </a:pPr>
            <a:r>
              <a:t>Payback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pessimista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0.1%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R$ 80k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negativo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realista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0.25%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R$160k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~67%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~7 meses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023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otimista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023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0.5%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4023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R$320k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023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~233%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4023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~4 meses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4572000"/>
            <a:ext cx="91440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4480" y="46634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ADCFC"/>
                </a:solidFill>
                <a:latin typeface="Calibri"/>
              </a:defRPr>
            </a:pPr>
            <a:r>
              <a:t>Custo total ~R$96k/ano (edge, retreino, equipe) → ROI realista 67%, payback 7m → VIÁVEL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Governança: Champion/Challenger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ADCFC"/>
                </a:solidFill>
                <a:latin typeface="Consolas"/>
              </a:defRPr>
            </a:pPr>
            <a:r>
              <a:t>Implantar challenger ⟺ MSE_challenger_shadow &lt; MSE_champion − 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01752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8B949E"/>
                </a:solidFill>
                <a:latin typeface="Calibri"/>
              </a:defRPr>
            </a:pPr>
            <a:r>
              <a:t>▸  Champion = modelo em produção</a:t>
            </a:r>
          </a:p>
          <a:p>
            <a:pPr>
              <a:spcAft>
                <a:spcPts val="1000"/>
              </a:spcAft>
              <a:defRPr sz="1800">
                <a:solidFill>
                  <a:srgbClr val="8B949E"/>
                </a:solidFill>
                <a:latin typeface="Calibri"/>
              </a:defRPr>
            </a:pPr>
            <a:r>
              <a:t>▸  Challenger = novo modelo em shadow mode</a:t>
            </a:r>
          </a:p>
          <a:p>
            <a:pPr>
              <a:spcAft>
                <a:spcPts val="1000"/>
              </a:spcAft>
              <a:defRPr sz="1800">
                <a:solidFill>
                  <a:srgbClr val="8B949E"/>
                </a:solidFill>
                <a:latin typeface="Calibri"/>
              </a:defRPr>
            </a:pPr>
            <a:r>
              <a:t>▸  ε = margem de segurança (10%) p/ não promover por ruído</a:t>
            </a:r>
          </a:p>
          <a:p>
            <a:pPr>
              <a:spcAft>
                <a:spcPts val="1000"/>
              </a:spcAft>
              <a:defRPr sz="1800">
                <a:solidFill>
                  <a:srgbClr val="8B949E"/>
                </a:solidFill>
                <a:latin typeface="Calibri"/>
              </a:defRPr>
            </a:pPr>
            <a:r>
              <a:t>▸  Se challenger supera por ε → promove</a:t>
            </a:r>
          </a:p>
          <a:p>
            <a:pPr>
              <a:spcAft>
                <a:spcPts val="1000"/>
              </a:spcAft>
              <a:defRPr sz="1800">
                <a:solidFill>
                  <a:srgbClr val="8B949E"/>
                </a:solidFill>
                <a:latin typeface="Calibri"/>
              </a:defRPr>
            </a:pPr>
            <a:r>
              <a:t>▸  Se retreino falha → rollback ao champion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5303520"/>
            <a:ext cx="91440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53949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38636"/>
                </a:solidFill>
                <a:latin typeface="Calibri"/>
              </a:defRPr>
            </a:pPr>
            <a:r>
              <a:t>Drift = inimigo silencioso: planta muda, modelo envelhece. Governança detecta e reverte.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Exercício em Grupo: Barreiras Reais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2286000" cy="2926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011680"/>
            <a:ext cx="22860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Grupo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56032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PIMS só aceita 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931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libri"/>
              </a:defRPr>
            </a:pPr>
            <a:r>
              <a:t>micro-serviço escreve CSV + monitora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2011680"/>
            <a:ext cx="2286000" cy="2926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31920" y="2011680"/>
            <a:ext cx="2286000" cy="4572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59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Grupo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59" y="256032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Só 2 meses de dados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3931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libri"/>
              </a:defRPr>
            </a:pPr>
            <a:r>
              <a:t>métodos robustos + mais sensores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2011680"/>
            <a:ext cx="2286000" cy="2926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2011680"/>
            <a:ext cx="228600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79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Grupo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256032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Custo edge vs 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3931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libri"/>
              </a:defRPr>
            </a:pPr>
            <a:r>
              <a:t>controle &lt;200ms → edge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59" y="2011680"/>
            <a:ext cx="2286000" cy="2926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59" y="2011680"/>
            <a:ext cx="2286000" cy="45720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3999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Grupo 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3999" y="256032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Operadores resistentes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3999" y="3931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libri"/>
              </a:defRPr>
            </a:pPr>
            <a:r>
              <a:t>shadow visível, treinamento, transparência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2761"/>
                </a:solidFill>
                <a:latin typeface="Calibri"/>
              </a:defRPr>
            </a:pPr>
            <a:r>
              <a:t>📋 Tarefa: Plano de Implantação de 1 Página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4 fases com risco e mitigação de cada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ROI em 3 cenários (otimista 20%, realista 10%, pessimista 5% redução)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Governança: quem aprova, retreino, rollback + champion/challenger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Critérios de sucesso mensuráveis por fase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Entregue PDF 1 página + planilha ROI - Prazo: antes da Aula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846320"/>
            <a:ext cx="914400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48920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🔍 NT: Análise de sensibilidade do ROI (retreino dobra / economia cai pela metade) — ainda viável?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577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761"/>
                </a:solidFill>
                <a:latin typeface="Calibri"/>
              </a:defRPr>
            </a:pPr>
            <a:r>
              <a:t>Próxima aula: Ética, Segurança e o papel do engenheiro!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