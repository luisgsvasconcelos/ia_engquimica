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64592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Calibri"/>
              </a:defRPr>
            </a:pPr>
            <a:r>
              <a:t>Ensaio e Ajustes</a:t>
            </a:r>
            <a:br/>
            <a:r>
              <a:t>de Apresentação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0175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500" b="0">
                <a:solidFill>
                  <a:srgbClr val="CADCFC"/>
                </a:solidFill>
                <a:latin typeface="Calibri"/>
              </a:defRPr>
            </a:pPr>
            <a:r>
              <a:t>Aula 28 - O ensaio geral antes da nota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3931920"/>
            <a:ext cx="2743200" cy="4572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42062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B949E"/>
                </a:solidFill>
                <a:latin typeface="Calibri"/>
              </a:defRPr>
            </a:pPr>
            <a:r>
              <a:t>Pitch 12 min  •  Rubrica  •  Tempo  •  Ajustes finais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54864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B949E"/>
                </a:solidFill>
                <a:latin typeface="Calibri"/>
              </a:defRPr>
            </a:pPr>
            <a:r>
              <a:t>Prof. [Seu Nome]  |  Duração: 100 min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0" y="13716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8B949E"/>
                </a:solidFill>
                <a:latin typeface="Calibri"/>
              </a:defRPr>
            </a:pPr>
            <a:r>
              <a:t>Pergunta Desafio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2011680"/>
            <a:ext cx="82296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"Um pitch excelente em slide pode FAILHAR</a:t>
            </a:r>
            <a:br/>
            <a:r>
              <a:t>em 12 minutos. O que transforma um bom</a:t>
            </a:r>
            <a:br/>
            <a:r>
              <a:t>conteúdo em uma boa apresentação?</a:t>
            </a:r>
            <a:br/>
            <a:r>
              <a:t>E o reverso: conteúdo raso sobrevive</a:t>
            </a:r>
            <a:br/>
            <a:r>
              <a:t>a perguntas difíceis?"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0" y="4754880"/>
            <a:ext cx="2743200" cy="4572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0" y="512064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ADCFC"/>
                </a:solidFill>
                <a:latin typeface="Calibri"/>
              </a:defRPr>
            </a:pPr>
            <a:r>
              <a:t>Hoje: ensaio geral. Próxima aula: apresentação valendo nota.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2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7315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E2761"/>
                </a:solidFill>
                <a:latin typeface="Calibri"/>
              </a:defRPr>
            </a:pPr>
            <a:r>
              <a:t>Arquitetura do Pitch (12 min)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1371600"/>
            <a:ext cx="2743200" cy="54864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828800" y="2011680"/>
            <a:ext cx="2103120" cy="73152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920240" y="219456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Problema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0" y="2011680"/>
            <a:ext cx="1554480" cy="73152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206240" y="21945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30-60s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0" y="214884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Calibri"/>
              </a:defRPr>
            </a:pPr>
            <a:r>
              <a:t>dor industrial</a:t>
            </a:r>
          </a:p>
        </p:txBody>
      </p:sp>
      <p:sp>
        <p:nvSpPr>
          <p:cNvPr id="9" name="Rectangle 8"/>
          <p:cNvSpPr/>
          <p:nvPr/>
        </p:nvSpPr>
        <p:spPr>
          <a:xfrm>
            <a:off x="1828800" y="2880360"/>
            <a:ext cx="2103120" cy="73152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920240" y="306324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Método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0" y="2880360"/>
            <a:ext cx="1554480" cy="73152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06240" y="306324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3-4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35040" y="301752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Calibri"/>
              </a:defRPr>
            </a:pPr>
            <a:r>
              <a:t>modelo, dados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828800" y="3749039"/>
            <a:ext cx="2103120" cy="73152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920240" y="393192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Resultados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14800" y="3749039"/>
            <a:ext cx="1554480" cy="73152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06240" y="39319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3-4 min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35040" y="388620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Calibri"/>
              </a:defRPr>
            </a:pPr>
            <a:r>
              <a:t>provas e métricas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828800" y="4617720"/>
            <a:ext cx="2103120" cy="73152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920240" y="480060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Conclusão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14800" y="4617720"/>
            <a:ext cx="1554480" cy="73152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206240" y="48006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2-3 min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35040" y="475488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Calibri"/>
              </a:defRPr>
            </a:pPr>
            <a:r>
              <a:t>valor, limitações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828800" y="5486400"/>
            <a:ext cx="2103120" cy="73152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920240" y="566928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Perguntas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114800" y="5486400"/>
            <a:ext cx="1554480" cy="73152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206240" y="56692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2 min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035040" y="562356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Calibri"/>
              </a:defRPr>
            </a:pPr>
            <a:r>
              <a:t>respostas da banca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71600" y="64008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38636"/>
                </a:solidFill>
                <a:latin typeface="Calibri"/>
              </a:defRPr>
            </a:pPr>
            <a:r>
              <a:t>O público decide se APROVA a implantação — defenda uma decisão de investimento.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7315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Regras de Design de Slides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1371600"/>
            <a:ext cx="2743200" cy="4572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2011680"/>
            <a:ext cx="9144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CADCFC"/>
                </a:solidFill>
                <a:latin typeface="Calibri"/>
              </a:defRPr>
            </a:pPr>
            <a:r>
              <a:t>▸  Uma mensagem por slide</a:t>
            </a:r>
          </a:p>
          <a:p>
            <a:pPr>
              <a:spcAft>
                <a:spcPts val="1000"/>
              </a:spcAft>
              <a:defRPr sz="1900">
                <a:solidFill>
                  <a:srgbClr val="CADCFC"/>
                </a:solidFill>
                <a:latin typeface="Calibri"/>
              </a:defRPr>
            </a:pPr>
            <a:r>
              <a:t>▸  Gráfico legível: título anuncia conclusão, eixos no idioma, fonte ≥ 24pt</a:t>
            </a:r>
          </a:p>
          <a:p>
            <a:pPr>
              <a:spcAft>
                <a:spcPts val="1000"/>
              </a:spcAft>
              <a:defRPr sz="1900">
                <a:solidFill>
                  <a:srgbClr val="CADCFC"/>
                </a:solidFill>
                <a:latin typeface="Calibri"/>
              </a:defRPr>
            </a:pPr>
            <a:r>
              <a:t>▸  Tabela grande → vira gráfico</a:t>
            </a:r>
          </a:p>
          <a:p>
            <a:pPr>
              <a:spcAft>
                <a:spcPts val="1000"/>
              </a:spcAft>
              <a:defRPr sz="1900">
                <a:solidFill>
                  <a:srgbClr val="CADCFC"/>
                </a:solidFill>
                <a:latin typeface="Calibri"/>
              </a:defRPr>
            </a:pPr>
            <a:r>
              <a:t>▸  Evitar texto corrido (regra 6×6)</a:t>
            </a:r>
          </a:p>
          <a:p>
            <a:pPr>
              <a:spcAft>
                <a:spcPts val="1000"/>
              </a:spcAft>
              <a:defRPr sz="1900">
                <a:solidFill>
                  <a:srgbClr val="CADCFC"/>
                </a:solidFill>
                <a:latin typeface="Calibri"/>
              </a:defRPr>
            </a:pPr>
            <a:r>
              <a:t>▸  Abrir com impacto: o problema, não 'olá somos a equipe X'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2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7315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E2761"/>
                </a:solidFill>
                <a:latin typeface="Calibri"/>
              </a:defRPr>
            </a:pPr>
            <a:r>
              <a:t>Agenda dos 100 min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1371600"/>
            <a:ext cx="2743200" cy="54864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828800" y="2103120"/>
            <a:ext cx="1737360" cy="73152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920240" y="228600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0-10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931920" y="2240279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Calibri"/>
              </a:defRPr>
            </a:pPr>
            <a:r>
              <a:t>Abertura</a:t>
            </a:r>
          </a:p>
        </p:txBody>
      </p:sp>
      <p:sp>
        <p:nvSpPr>
          <p:cNvPr id="7" name="Rectangle 6"/>
          <p:cNvSpPr/>
          <p:nvPr/>
        </p:nvSpPr>
        <p:spPr>
          <a:xfrm>
            <a:off x="1828800" y="2926079"/>
            <a:ext cx="1737360" cy="73152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920240" y="310896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10-25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31920" y="3063239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Calibri"/>
              </a:defRPr>
            </a:pPr>
            <a:r>
              <a:t>Teoria da comunicação técnica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0" y="3749039"/>
            <a:ext cx="1737360" cy="73152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920240" y="393192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25-85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31920" y="388620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Calibri"/>
              </a:defRPr>
            </a:pPr>
            <a:r>
              <a:t>Ensaio cronometrado (5 × 12 min)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828800" y="4572000"/>
            <a:ext cx="1737360" cy="73152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920240" y="475488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85-95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31920" y="47091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Calibri"/>
              </a:defRPr>
            </a:pPr>
            <a:r>
              <a:t>Feedback consolidado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0" y="5394960"/>
            <a:ext cx="1737360" cy="73152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920240" y="557784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95-100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31920" y="55321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Calibri"/>
              </a:defRPr>
            </a:pPr>
            <a:r>
              <a:t>Fechamento + ajustes e tarefa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7315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Rubrica de Avaliação (1-5)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1371600"/>
            <a:ext cx="2743200" cy="4572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97280" y="1828800"/>
            <a:ext cx="9966960" cy="54864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80160" y="1874519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Critério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1874519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3 Adequado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0" y="1874519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5 Excelente</a:t>
            </a:r>
          </a:p>
        </p:txBody>
      </p:sp>
      <p:sp>
        <p:nvSpPr>
          <p:cNvPr id="9" name="Rectangle 8"/>
          <p:cNvSpPr/>
          <p:nvPr/>
        </p:nvSpPr>
        <p:spPr>
          <a:xfrm>
            <a:off x="1097280" y="2377440"/>
            <a:ext cx="9966960" cy="5486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80160" y="24231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ADCFC"/>
                </a:solidFill>
                <a:latin typeface="Calibri"/>
              </a:defRPr>
            </a:pPr>
            <a:r>
              <a:t>Clareza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24231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ADCFC"/>
                </a:solidFill>
                <a:latin typeface="Calibri"/>
              </a:defRPr>
            </a:pPr>
            <a:r>
              <a:t>problema + contexto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40" y="24231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ADCFC"/>
                </a:solidFill>
                <a:latin typeface="Calibri"/>
              </a:defRPr>
            </a:pPr>
            <a:r>
              <a:t>dor quantificada nos 30s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97280" y="2926080"/>
            <a:ext cx="9966960" cy="5486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80160" y="29718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ADCFC"/>
                </a:solidFill>
                <a:latin typeface="Calibri"/>
              </a:defRPr>
            </a:pPr>
            <a:r>
              <a:t>Profundidade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29718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ADCFC"/>
                </a:solidFill>
                <a:latin typeface="Calibri"/>
              </a:defRPr>
            </a:pPr>
            <a:r>
              <a:t>método citado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63840" y="29718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ADCFC"/>
                </a:solidFill>
                <a:latin typeface="Calibri"/>
              </a:defRPr>
            </a:pPr>
            <a:r>
              <a:t>escolhas justificadas + trade-offs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97280" y="3474720"/>
            <a:ext cx="9966960" cy="5486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80160" y="3520439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ADCFC"/>
                </a:solidFill>
                <a:latin typeface="Calibri"/>
              </a:defRPr>
            </a:pPr>
            <a:r>
              <a:t>Slides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3520439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ADCFC"/>
                </a:solidFill>
                <a:latin typeface="Calibri"/>
              </a:defRPr>
            </a:pPr>
            <a:r>
              <a:t>legíveis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63840" y="3520439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ADCFC"/>
                </a:solidFill>
                <a:latin typeface="Calibri"/>
              </a:defRPr>
            </a:pPr>
            <a:r>
              <a:t>1 msg/slide, gráficos inequívocos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97280" y="4023360"/>
            <a:ext cx="9966960" cy="5486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280160" y="4069079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ADCFC"/>
                </a:solidFill>
                <a:latin typeface="Calibri"/>
              </a:defRPr>
            </a:pPr>
            <a:r>
              <a:t>Tempo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4069079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ADCFC"/>
                </a:solidFill>
                <a:latin typeface="Calibri"/>
              </a:defRPr>
            </a:pPr>
            <a:r>
              <a:t>leve desvio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63840" y="4069079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ADCFC"/>
                </a:solidFill>
                <a:latin typeface="Calibri"/>
              </a:defRPr>
            </a:pPr>
            <a:r>
              <a:t>12 min exatos, seções equilibradas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97280" y="4572000"/>
            <a:ext cx="9966960" cy="5486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280160" y="46177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ADCFC"/>
                </a:solidFill>
                <a:latin typeface="Calibri"/>
              </a:defRPr>
            </a:pPr>
            <a:r>
              <a:t>Impacto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46177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ADCFC"/>
                </a:solidFill>
                <a:latin typeface="Calibri"/>
              </a:defRPr>
            </a:pPr>
            <a:r>
              <a:t>convence c/ ressalvas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63840" y="46177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ADCFC"/>
                </a:solidFill>
                <a:latin typeface="Calibri"/>
              </a:defRPr>
            </a:pPr>
            <a:r>
              <a:t>público aprovaria implantação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7315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Feedback por Equipe (3 min cada)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1371600"/>
            <a:ext cx="2743200" cy="4572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2011680"/>
            <a:ext cx="9144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CADCFC"/>
                </a:solidFill>
                <a:latin typeface="Calibri"/>
              </a:defRPr>
            </a:pPr>
            <a:r>
              <a:t>▸  Pontuar os 5 critérios da rubrica</a:t>
            </a:r>
          </a:p>
          <a:p>
            <a:pPr>
              <a:spcAft>
                <a:spcPts val="1000"/>
              </a:spcAft>
              <a:defRPr sz="1900">
                <a:solidFill>
                  <a:srgbClr val="CADCFC"/>
                </a:solidFill>
                <a:latin typeface="Calibri"/>
              </a:defRPr>
            </a:pPr>
            <a:r>
              <a:t>▸  Nomear 1 ponto forte + 1 ponto a melhorar</a:t>
            </a:r>
          </a:p>
          <a:p>
            <a:pPr>
              <a:spcAft>
                <a:spcPts val="1000"/>
              </a:spcAft>
              <a:defRPr sz="1900">
                <a:solidFill>
                  <a:srgbClr val="CADCFC"/>
                </a:solidFill>
                <a:latin typeface="Calibri"/>
              </a:defRPr>
            </a:pPr>
            <a:r>
              <a:t>▸  Confrontar folha de cronometragem: onde gastou mais/menos?</a:t>
            </a:r>
          </a:p>
          <a:p>
            <a:pPr>
              <a:spcAft>
                <a:spcPts val="1000"/>
              </a:spcAft>
              <a:defRPr sz="1900">
                <a:solidFill>
                  <a:srgbClr val="CADCFC"/>
                </a:solidFill>
                <a:latin typeface="Calibri"/>
              </a:defRPr>
            </a:pPr>
            <a:r>
              <a:t>▸  Defesa técnica: 'você respondeu POR QUE o modelo é confiável?'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2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7315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E2761"/>
                </a:solidFill>
                <a:latin typeface="Calibri"/>
              </a:defRPr>
            </a:pPr>
            <a:r>
              <a:t>📋 Tarefa: Versão Final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1371600"/>
            <a:ext cx="2743200" cy="54864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828800"/>
            <a:ext cx="9144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▸  Reescreva slides que quebraram a rubrica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▸  Revise distribuição dos 12 min (abertura≤1, método≤4, resultados≤4, conclusão≤2, perguntas≤2)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▸  Anote respostas às perguntas da banca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▸  Ensaie o pitch cronometrado 2×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▸  Trilha NT: 3 respostas profundas (validação, generalização, custo-benefício)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5120640"/>
            <a:ext cx="9144000" cy="6400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554480" y="5212080"/>
            <a:ext cx="8686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CADCFC"/>
                </a:solidFill>
                <a:latin typeface="Calibri"/>
              </a:defRPr>
            </a:pPr>
            <a:r>
              <a:t>Deck + roteiro prontos para a Aula 29 (apresentação valendo nota).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