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Conceito e Projeto</a:t>
            </a:r>
            <a:br/>
            <a:r>
              <a:t>de Soft-Sensors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07 — Analisadores virtuais para variáveis difíceis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Por que usar soft-sensors?  •  Arquitetura  •  5 etapas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 Problema que Nenhum Sensor Resolve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Cromatógrafo (GC)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2316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Custa R$ 200.000+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Requer calibração semanal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Argônio de arraste caro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5 a 20 min por análise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Analisa a cada 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3891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Entre análises do GC (30 min),</a:t>
            </a:r>
            <a:br/>
            <a:r>
              <a:t>operador está 'cego'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Controle da coluna usa</a:t>
            </a:r>
            <a:br/>
            <a:r>
              <a:t>informação defasada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Composição pode sair de especificação</a:t>
            </a:r>
            <a:br/>
            <a:r>
              <a:t>sem detecção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▸  Custo de não medir em tempo real!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"E se um modelo de ML pudesse prever a composição a cada 1 minuto?"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"Se o GC custa R$ 200k + R$ 30k/ano,</a:t>
            </a:r>
            <a:br/>
            <a:r>
              <a:t>e o soft-sensor custa R$ 10k + R$ 1k/mês,</a:t>
            </a:r>
            <a:br/>
            <a:r>
              <a:t>qual o payback?</a:t>
            </a:r>
            <a:br/>
            <a:r>
              <a:t>E se o erro do soft-sensor for</a:t>
            </a:r>
            <a:br/>
            <a:r>
              <a:t>2% maior que o GC?"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5720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Custo × Benefício: nem sempre o equipamento mais barato é o melhor.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 Mapa do Soft-Sensor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438912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Variáveis Primárias (difíceis)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42316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Composição do produto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Conversão da reação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Viscosidade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Coeficiente de incrustação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Medição cara ou impossível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82880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Variáveis Secundárias (fáceis)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2316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Temperatura (termopar barato)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Pressão (transmissor barato)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Vazão (medidor de vazão)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Razão de refluxo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Disponíveis a cada 1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20040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Soft-sensor = ponte entre o que é fácil medir e o que queremos saber.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Analogia: Médico vs Soft-Sensor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572000" cy="1920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4572000" cy="41148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391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Médico (sem abrir)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6032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Mede T, P, batimentos</a:t>
            </a:r>
            <a:br/>
            <a:r>
              <a:t>(fáceis) e estima o</a:t>
            </a:r>
            <a:br/>
            <a:r>
              <a:t>que há dentro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572000" cy="1920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572000" cy="41148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391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= Soft-Sensor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Mede T, P, vazão</a:t>
            </a:r>
            <a:br/>
            <a:r>
              <a:t>(fáceis) e estima</a:t>
            </a:r>
            <a:br/>
            <a:r>
              <a:t>composição, conversão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297680"/>
            <a:ext cx="4572000" cy="1920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4297680"/>
            <a:ext cx="4572000" cy="41148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3251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Difíceis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4632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Exame invasivo</a:t>
            </a:r>
            <a:br/>
            <a:r>
              <a:t>cirurgia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297680"/>
            <a:ext cx="4572000" cy="1920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297680"/>
            <a:ext cx="4572000" cy="4114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3251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= Difíceis de medir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84632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Cromatógrafo</a:t>
            </a:r>
            <a:br/>
            <a:r>
              <a:t>analisador caro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"O soft-sensor NUNCA substitui o analisador — reduz a frequência e calibra."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As 5 Etapas do Projeto de um Soft-Sensor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45720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57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057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D9"/>
                </a:solidFill>
                <a:latin typeface="Calibri"/>
              </a:defRPr>
            </a:pPr>
            <a:r>
              <a:t>Definir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57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Qual y? Qual precisão Δy_max aceitável?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880360"/>
            <a:ext cx="45720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26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D9"/>
                </a:solidFill>
                <a:latin typeface="Calibri"/>
              </a:defRPr>
            </a:pPr>
            <a:r>
              <a:t>Selecionar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260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Quais X disponíveis? Correlação + engenharia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749039"/>
            <a:ext cx="457200" cy="6400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5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9475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  <a:latin typeface="Calibri"/>
              </a:defRPr>
            </a:pPr>
            <a:r>
              <a:t>Preparar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94759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Histórico PIMS + lab. Alinhar, limpar, lags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617720"/>
            <a:ext cx="457200" cy="6400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663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663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8636"/>
                </a:solidFill>
                <a:latin typeface="Calibri"/>
              </a:defRPr>
            </a:pPr>
            <a:r>
              <a:t>Modelar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6634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Treinar, validar, k-fold. Generaliza?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486400"/>
            <a:ext cx="457200" cy="64008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532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532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57E5"/>
                </a:solidFill>
                <a:latin typeface="Calibri"/>
              </a:defRPr>
            </a:pPr>
            <a:r>
              <a:t>Implantar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5321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Monitorar drift, retreinar periodicamente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Conexão: Etapa 3 → Aulas 2-4 | Etapa 4 → Aulas 5-6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️  Prática: Soft-Sensor para Coluna de Destilação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ADCFC"/>
                </a:solidFill>
                <a:latin typeface="Calibri"/>
              </a:defRPr>
            </a:pPr>
            <a:r>
              <a:t>Cenário: GC a cada 30 min → soft-sensor a cada 1 min (objetivo: reduzir GC para 2h)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Etapa 1: Definir y = composição, RMSE alvo &lt; 1.0%</a:t>
            </a:r>
          </a:p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Etapa 2: Selecionar features (T_top, R_refluxo, P...)</a:t>
            </a:r>
          </a:p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Etapa 3: Preparar dados + lags (T_top_lag1, lag3)</a:t>
            </a:r>
          </a:p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Etapa 4: Treinar RF + XGBoost, validar com k-fold</a:t>
            </a:r>
          </a:p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RMSE &lt; 1.0%? → soft-sensor viável?</a:t>
            </a:r>
          </a:p>
          <a:p>
            <a:pPr>
              <a:spcAft>
                <a:spcPts val="1000"/>
              </a:spcAft>
              <a:defRPr sz="1900">
                <a:solidFill>
                  <a:srgbClr val="8B949E"/>
                </a:solidFill>
                <a:latin typeface="Calibri"/>
              </a:defRPr>
            </a:pPr>
            <a:r>
              <a:t>▸  Etapa 5: Conclusão + frequência recomendada do GC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120640"/>
            <a:ext cx="914400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1663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Critério: se RMSE &lt; 1.0% → VIÁVEL</a:t>
            </a:r>
            <a:br/>
            <a:r>
              <a:t>Manter GC a cada 2h para calibração e detecção de drift</a:t>
            </a:r>
            <a:br/>
            <a:r>
              <a:t>Retreinar mensalmente com novos dados do GC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Gabarito Esperado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874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RMSE teste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74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RMSE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745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Atingiu alvo &lt;1%?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46888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Random Forest (100)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~0.85%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~0.90%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10896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154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XGBoost (100)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154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761"/>
                </a:solidFill>
                <a:latin typeface="Calibri"/>
              </a:defRPr>
            </a:pPr>
            <a:r>
              <a:t>~0.78%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154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761"/>
                </a:solidFill>
                <a:latin typeface="Calibri"/>
              </a:defRPr>
            </a:pPr>
            <a:r>
              <a:t>~0.82%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54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76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Interpretação: Ambos atingem RMSE &lt; 1.0%. XGBoost é ligeiramente superior.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754880"/>
            <a:ext cx="9144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8463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O soft-sensor é VIÁVEL. Reduz a frequência do GC de 30 min para 2h.</a:t>
            </a:r>
            <a:br/>
            <a:r>
              <a:t>Economia de argônio + resposta em tempo real ao controle da coluna.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Viabilidade Técnica e Econômica — 4 Cenários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Coluna destilação</a:t>
            </a:r>
            <a:br/>
            <a:r>
              <a:t>Composição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GC R$200k/ano</a:t>
            </a:r>
            <a:br/>
            <a:r>
              <a:t>2 anos PIMS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840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Dados suficientes?</a:t>
            </a:r>
            <a:br/>
            <a:r>
              <a:t>2) RMSE factível?</a:t>
            </a:r>
            <a:br/>
            <a:r>
              <a:t>3) Custo justifica?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Reator CSTR</a:t>
            </a:r>
            <a:br/>
            <a:r>
              <a:t>Conversão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Lab R$15k/ano</a:t>
            </a:r>
            <a:br/>
            <a:r>
              <a:t>6 meses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3840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Dados suficientes?</a:t>
            </a:r>
            <a:br/>
            <a:r>
              <a:t>2) RMSE factível?</a:t>
            </a:r>
            <a:br/>
            <a:r>
              <a:t>3) Custo justifica?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Trocador calor</a:t>
            </a:r>
            <a:br/>
            <a:r>
              <a:t>Coef. 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Manual R$0</a:t>
            </a:r>
            <a:br/>
            <a:r>
              <a:t>3 meses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840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Dados suficientes?</a:t>
            </a:r>
            <a:br/>
            <a:r>
              <a:t>2) RMSE factível?</a:t>
            </a:r>
            <a:br/>
            <a:r>
              <a:t>3) Custo justifica?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59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59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99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9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Secador spray</a:t>
            </a:r>
            <a:br/>
            <a:r>
              <a:t>Umidade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NIR R$150k/ano</a:t>
            </a:r>
            <a:br/>
            <a:r>
              <a:t>1 ano falhas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3840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Dados suficientes?</a:t>
            </a:r>
            <a:br/>
            <a:r>
              <a:t>2) RMSE factível?</a:t>
            </a:r>
            <a:br/>
            <a:r>
              <a:t>3) Custo justifica?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9922"/>
                </a:solidFill>
                <a:latin typeface="Calibri"/>
              </a:defRPr>
            </a:pPr>
            <a:r>
              <a:t>Decisão: implantar soft-sensor, manter analisador, ou ambos?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  Tarefa: Projeto Conceitual de um Soft-Sensor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Escolha um processo: CSTR, coluna, trocador ou evaporador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Seção 1 — Definição: variável primária, precisão, frequência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Seção 2 — Features: ≥5 variáveis secundárias com justificativa física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Seção 3 — Dados: descreva o que precisa (ou crie sintéticos)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Seção 4 — Modelagem: ≥2 modelos, compare RMSE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Seção 5 — Viabilidade: RMSE vs alvo + custo-benefício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8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00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 Bônus NT: Análise de sensibilidade — remova a feature mais importante. Quanto o RMSE sobe? Redundância mínima de sensores?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Lab Prático 1 — construir um soft-sensor funcional em Python!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