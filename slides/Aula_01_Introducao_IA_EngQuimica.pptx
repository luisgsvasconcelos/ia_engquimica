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Inteligência Artificial Aplicada à</a:t>
            </a:r>
            <a:br/>
            <a:r>
              <a:t>Engenharia Química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01 — O Engenheiro de Processos na Era dos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Indústria 4.0  •  PIMS/SCADA  •  Primeiros passos em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rPr dirty="0"/>
              <a:t>Prof. </a:t>
            </a:r>
            <a:r>
              <a:rPr lang="pt-BR" dirty="0"/>
              <a:t>Luis Vasconcelos </a:t>
            </a:r>
            <a:r>
              <a:rPr dirty="0"/>
              <a:t>|  </a:t>
            </a:r>
            <a:r>
              <a:rPr dirty="0" err="1"/>
              <a:t>Duração</a:t>
            </a:r>
            <a:r>
              <a:rPr dirty="0"/>
              <a:t>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Objetivo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Capacitar o aluno a situar a IA no contexto da Engenharia Química,</a:t>
            </a:r>
            <a:br/>
            <a:r>
              <a:t>reconhecer a arquitetura de dados industriais (PIMS/SCADA) e</a:t>
            </a:r>
            <a:br/>
            <a:r>
              <a:t>executar seu primeiro notebook Python para análise de dados de processo.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9421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Contexto: Indústria 4.0 e o papel do engenheiro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Conceitos: SCADA, PIMS, modelo baseado em dados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Prática: Google Colab + Pandas com dados reais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Análise: Interpretação e correlações entre variáveis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AE2E7-0505-97E0-F9C6-3996BD98B227}"/>
              </a:ext>
            </a:extLst>
          </p:cNvPr>
          <p:cNvSpPr txBox="1"/>
          <p:nvPr/>
        </p:nvSpPr>
        <p:spPr>
          <a:xfrm>
            <a:off x="1371600" y="5758934"/>
            <a:ext cx="9653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PIMS</a:t>
            </a:r>
            <a:r>
              <a:rPr lang="pt-BR" dirty="0"/>
              <a:t>: </a:t>
            </a:r>
            <a:r>
              <a:rPr lang="pt-BR" i="1" dirty="0"/>
              <a:t>Plant </a:t>
            </a:r>
            <a:r>
              <a:rPr lang="pt-BR" i="1" dirty="0" err="1"/>
              <a:t>Information</a:t>
            </a:r>
            <a:r>
              <a:rPr lang="pt-BR" i="1" dirty="0"/>
              <a:t> Management System </a:t>
            </a:r>
            <a:r>
              <a:rPr lang="pt-BR" dirty="0"/>
              <a:t>(Sistema de Gerenciamento de Informações de Planta).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3A177-EDF4-A734-ABEF-38AD13F65AAD}"/>
              </a:ext>
            </a:extLst>
          </p:cNvPr>
          <p:cNvSpPr txBox="1"/>
          <p:nvPr/>
        </p:nvSpPr>
        <p:spPr>
          <a:xfrm>
            <a:off x="1371600" y="6090350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u="none" strike="noStrike" dirty="0">
                <a:effectLst/>
                <a:latin typeface="+mn-lt"/>
              </a:rPr>
              <a:t>SCADA:</a:t>
            </a:r>
            <a:r>
              <a:rPr lang="pt-BR" dirty="0"/>
              <a:t> </a:t>
            </a:r>
            <a:r>
              <a:rPr lang="pt-BR" sz="1800" b="0" i="1" u="none" strike="noStrike" dirty="0" err="1">
                <a:effectLst/>
                <a:latin typeface="+mn-lt"/>
              </a:rPr>
              <a:t>Supervisory</a:t>
            </a:r>
            <a:r>
              <a:rPr lang="pt-BR" sz="1800" b="0" i="1" u="none" strike="noStrike" dirty="0">
                <a:effectLst/>
                <a:latin typeface="+mn-lt"/>
              </a:rPr>
              <a:t> </a:t>
            </a:r>
            <a:r>
              <a:rPr lang="pt-BR" sz="1800" b="0" i="1" u="none" strike="noStrike" dirty="0" err="1">
                <a:effectLst/>
                <a:latin typeface="+mn-lt"/>
              </a:rPr>
              <a:t>Control</a:t>
            </a:r>
            <a:r>
              <a:rPr lang="pt-BR" sz="1800" b="0" i="1" u="none" strike="noStrike" dirty="0">
                <a:effectLst/>
                <a:latin typeface="+mn-lt"/>
              </a:rPr>
              <a:t> </a:t>
            </a:r>
            <a:r>
              <a:rPr lang="pt-BR" sz="1800" b="0" i="1" u="none" strike="noStrike" dirty="0" err="1">
                <a:effectLst/>
                <a:latin typeface="+mn-lt"/>
              </a:rPr>
              <a:t>and</a:t>
            </a:r>
            <a:r>
              <a:rPr lang="pt-BR" sz="1800" b="0" i="1" u="none" strike="noStrike" dirty="0">
                <a:effectLst/>
                <a:latin typeface="+mn-lt"/>
              </a:rPr>
              <a:t> Data Acquisition</a:t>
            </a:r>
            <a:r>
              <a:rPr lang="pt-BR" dirty="0"/>
              <a:t> (Sistema de Supervisão e Aquisição de Dados)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"Se você pudesse perguntar qualquer coisa sobre</a:t>
            </a:r>
            <a:br/>
            <a:r>
              <a:t>os 10.000 sensores de uma planta de eteno,</a:t>
            </a:r>
            <a:br/>
            <a:r>
              <a:t>o que perguntaria?"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💡 Pense como estrategista — não como operador.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Indústria 4.0 — Camadas de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3200400" cy="6400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9019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9019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IA, Otimização, Soft-sensors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32004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6791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  ANÁLISE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791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Dashboards, KPIs, Modelos Preditivos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383280"/>
            <a:ext cx="3200400" cy="6400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34564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 INFORMAÇÃO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564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PIMS — </a:t>
            </a:r>
            <a:r>
              <a:rPr dirty="0" err="1"/>
              <a:t>Armazenamento</a:t>
            </a:r>
            <a:r>
              <a:rPr dirty="0"/>
              <a:t> &amp; </a:t>
            </a:r>
            <a:r>
              <a:rPr dirty="0" err="1"/>
              <a:t>Gestão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828800" y="4160520"/>
            <a:ext cx="3200400" cy="6400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42336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  SUPERVISÃO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2336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SCADA / HMI — Monitoramento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937760"/>
            <a:ext cx="3200400" cy="6400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240" y="50109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  CONTROLE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0109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PLC/RTU — Controladores Lógicos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715000"/>
            <a:ext cx="3200400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578815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  FÍSICO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7881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Sensores, Atuadores, Válvulas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3367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 dirty="0"/>
              <a:t>👤  O </a:t>
            </a:r>
            <a:r>
              <a:rPr dirty="0" err="1"/>
              <a:t>engenheiro</a:t>
            </a:r>
            <a:r>
              <a:rPr dirty="0"/>
              <a:t> </a:t>
            </a:r>
            <a:r>
              <a:rPr dirty="0" err="1"/>
              <a:t>químico</a:t>
            </a:r>
            <a:r>
              <a:rPr dirty="0"/>
              <a:t> atua </a:t>
            </a:r>
            <a:r>
              <a:rPr dirty="0" err="1"/>
              <a:t>em</a:t>
            </a:r>
            <a:r>
              <a:rPr dirty="0"/>
              <a:t> TODAS as </a:t>
            </a:r>
            <a:r>
              <a:rPr dirty="0" err="1"/>
              <a:t>camadas</a:t>
            </a:r>
            <a:r>
              <a:rPr dirty="0"/>
              <a:t> —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3, 4 e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Analogia: SCADA/PIMS = Sistema Nervoso da Planta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🧠  PIMS = Cérebro → armazena, interpreta, decide</a:t>
            </a:r>
          </a:p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🔌  SCADA = Medula espinhal → coordena, monitora, alerta</a:t>
            </a:r>
          </a:p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⚡  PLC/RTU = Nervos → enviam sinais dos sensores</a:t>
            </a:r>
          </a:p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👆  Sensores = Terminações nervosas → medem T, P, F, 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O engenheiro do futuro usa esses dados para construir modelos preditivos: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6C7994-054C-A19C-89FC-D197BBCBC021}"/>
              </a:ext>
            </a:extLst>
          </p:cNvPr>
          <p:cNvGrpSpPr/>
          <p:nvPr/>
        </p:nvGrpSpPr>
        <p:grpSpPr>
          <a:xfrm>
            <a:off x="2167128" y="5394960"/>
            <a:ext cx="7552944" cy="822960"/>
            <a:chOff x="3200400" y="5212080"/>
            <a:chExt cx="7552944" cy="822960"/>
          </a:xfrm>
        </p:grpSpPr>
        <p:sp>
          <p:nvSpPr>
            <p:cNvPr id="7" name="Rectangle 6"/>
            <p:cNvSpPr/>
            <p:nvPr/>
          </p:nvSpPr>
          <p:spPr>
            <a:xfrm>
              <a:off x="3200400" y="5212080"/>
              <a:ext cx="7342632" cy="82296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83280" y="5303520"/>
              <a:ext cx="73700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FFFFFF"/>
                  </a:solidFill>
                  <a:latin typeface="Calibri"/>
                </a:defRPr>
              </a:pPr>
              <a:r>
                <a:rPr dirty="0"/>
                <a:t>y = f(dados de entrada)     (</a:t>
              </a:r>
              <a:r>
                <a:rPr dirty="0" err="1"/>
                <a:t>modelo</a:t>
              </a:r>
              <a:r>
                <a:rPr dirty="0"/>
                <a:t> </a:t>
              </a:r>
              <a:r>
                <a:rPr dirty="0" err="1"/>
                <a:t>baseado</a:t>
              </a:r>
              <a:r>
                <a:rPr dirty="0"/>
                <a:t> </a:t>
              </a:r>
              <a:r>
                <a:rPr dirty="0" err="1"/>
                <a:t>em</a:t>
              </a:r>
              <a:r>
                <a:rPr dirty="0"/>
                <a:t> dados)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Dois Caminhos para Modelar um Processo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Modelo Fenomenológico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914400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leis </a:t>
            </a:r>
            <a:r>
              <a:rPr dirty="0" err="1"/>
              <a:t>físicas</a:t>
            </a:r>
            <a:r>
              <a:rPr dirty="0"/>
              <a:t> (</a:t>
            </a:r>
            <a:r>
              <a:rPr dirty="0" err="1"/>
              <a:t>balanços</a:t>
            </a:r>
            <a:r>
              <a:rPr dirty="0"/>
              <a:t> de </a:t>
            </a:r>
            <a:r>
              <a:rPr dirty="0" err="1"/>
              <a:t>massa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 </a:t>
            </a:r>
            <a:r>
              <a:rPr dirty="0"/>
              <a:t>e </a:t>
            </a:r>
            <a:r>
              <a:rPr dirty="0" err="1"/>
              <a:t>energia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Ex: Q = U·A·ΔT 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</a:t>
            </a:r>
            <a:r>
              <a:rPr dirty="0" err="1"/>
              <a:t>ou</a:t>
            </a:r>
            <a:r>
              <a:rPr dirty="0"/>
              <a:t>  </a:t>
            </a:r>
            <a:r>
              <a:rPr dirty="0" err="1"/>
              <a:t>m·Cp·dT</a:t>
            </a:r>
            <a:r>
              <a:rPr dirty="0"/>
              <a:t>/dt = </a:t>
            </a:r>
            <a:r>
              <a:rPr dirty="0" err="1"/>
              <a:t>Q_in</a:t>
            </a:r>
            <a:r>
              <a:rPr dirty="0"/>
              <a:t> - </a:t>
            </a:r>
            <a:r>
              <a:rPr dirty="0" err="1"/>
              <a:t>Q_out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Requer</a:t>
            </a:r>
            <a:r>
              <a:rPr dirty="0"/>
              <a:t> </a:t>
            </a:r>
            <a:r>
              <a:rPr dirty="0" err="1"/>
              <a:t>parâmetros</a:t>
            </a:r>
            <a:r>
              <a:rPr dirty="0"/>
              <a:t>: </a:t>
            </a:r>
            <a:r>
              <a:rPr dirty="0" err="1"/>
              <a:t>coeficientes</a:t>
            </a:r>
            <a:r>
              <a:rPr dirty="0"/>
              <a:t>,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</a:t>
            </a:r>
            <a:r>
              <a:rPr dirty="0"/>
              <a:t> </a:t>
            </a:r>
            <a:r>
              <a:rPr dirty="0" err="1"/>
              <a:t>geometria</a:t>
            </a:r>
            <a:r>
              <a:rPr dirty="0"/>
              <a:t>, </a:t>
            </a:r>
            <a:r>
              <a:rPr dirty="0" err="1"/>
              <a:t>propriedades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Preciso</a:t>
            </a:r>
            <a:r>
              <a:rPr dirty="0"/>
              <a:t>, mas lento e </a:t>
            </a:r>
            <a:r>
              <a:rPr dirty="0" err="1"/>
              <a:t>caro</a:t>
            </a:r>
            <a:r>
              <a:rPr dirty="0"/>
              <a:t> de </a:t>
            </a:r>
            <a:r>
              <a:rPr dirty="0" err="1"/>
              <a:t>desenvolver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sempre </a:t>
            </a:r>
            <a:r>
              <a:rPr dirty="0" err="1"/>
              <a:t>na</a:t>
            </a:r>
            <a:r>
              <a:rPr dirty="0"/>
              <a:t> Eng. </a:t>
            </a:r>
            <a:r>
              <a:rPr dirty="0" err="1"/>
              <a:t>Química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Modelo Baseado em Dados (IA)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914400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Aprende</a:t>
            </a:r>
            <a:r>
              <a:rPr dirty="0"/>
              <a:t> </a:t>
            </a:r>
            <a:r>
              <a:rPr dirty="0" err="1"/>
              <a:t>padrões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dos dados do PIMS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Ex: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</a:t>
            </a:r>
            <a:r>
              <a:rPr dirty="0" err="1"/>
              <a:t>T_top</a:t>
            </a:r>
            <a:r>
              <a:rPr dirty="0"/>
              <a:t> = f(</a:t>
            </a:r>
            <a:r>
              <a:rPr dirty="0" err="1"/>
              <a:t>T_base</a:t>
            </a:r>
            <a:r>
              <a:rPr dirty="0"/>
              <a:t>, </a:t>
            </a:r>
            <a:r>
              <a:rPr dirty="0" err="1"/>
              <a:t>P_coluna</a:t>
            </a:r>
            <a:r>
              <a:rPr dirty="0"/>
              <a:t>, </a:t>
            </a:r>
            <a:r>
              <a:rPr dirty="0" err="1"/>
              <a:t>F_alimentação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de </a:t>
            </a:r>
            <a:r>
              <a:rPr dirty="0" err="1"/>
              <a:t>equações</a:t>
            </a:r>
            <a:r>
              <a:rPr dirty="0"/>
              <a:t> de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 </a:t>
            </a:r>
            <a:r>
              <a:rPr dirty="0" err="1"/>
              <a:t>balanço</a:t>
            </a:r>
            <a:r>
              <a:rPr dirty="0"/>
              <a:t> </a:t>
            </a:r>
            <a:r>
              <a:rPr dirty="0" err="1"/>
              <a:t>explícitas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Rápido</a:t>
            </a:r>
            <a:r>
              <a:rPr dirty="0"/>
              <a:t> de </a:t>
            </a:r>
            <a:r>
              <a:rPr dirty="0" err="1"/>
              <a:t>treinar</a:t>
            </a:r>
            <a:r>
              <a:rPr dirty="0"/>
              <a:t>, </a:t>
            </a:r>
            <a:r>
              <a:rPr dirty="0" err="1"/>
              <a:t>adaptativo</a:t>
            </a:r>
            <a:r>
              <a:rPr dirty="0"/>
              <a:t>,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  </a:t>
            </a:r>
            <a:r>
              <a:rPr dirty="0"/>
              <a:t>mas "</a:t>
            </a:r>
            <a:r>
              <a:rPr dirty="0" err="1"/>
              <a:t>caixa</a:t>
            </a:r>
            <a:r>
              <a:rPr dirty="0"/>
              <a:t> preta"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Complementa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substitui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pt-BR" dirty="0"/>
              <a:t>                </a:t>
            </a:r>
            <a:r>
              <a:rPr dirty="0"/>
              <a:t>—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físico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Jornada do Dado Industrial — Passo a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Medição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Sensor mede T = 78.2 °C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Sinal 4-20 mA → 0-10 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10896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546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Registrado no controlador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74903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947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Enviado para supervisão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38912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Armazenado como série temporal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0292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Export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Extraído para análise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66927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5714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7149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Python 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7149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Análise com Pandas +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🖥️  Prática: Seu Primeiro Notebook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Cenário: Você é engenheiro de processos na planta Química ABC.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Abra o Google Colab no navegador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um novo notebook Python 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Importe pandas e carregue o CSV da coluna de destilação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Use df.head(), df.info() e df.describe()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Trabalhe em trios — compartilhem descobertas!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14400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66344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DBEE5"/>
                </a:solidFill>
                <a:latin typeface="Consolas"/>
              </a:defRPr>
            </a:pPr>
            <a:r>
              <a:t>import pandas as pd</a:t>
            </a:r>
            <a:br/>
            <a:r>
              <a:t>import numpy as np</a:t>
            </a:r>
            <a:br/>
            <a:br/>
            <a:r>
              <a:t>url = "...coluna_destilacao_24h.csv"</a:t>
            </a:r>
            <a:br/>
            <a:r>
              <a:t>df = pd.read_csv(url)</a:t>
            </a:r>
            <a:br/>
            <a:r>
              <a:t>df.head()      # Primeiras 5 linhas</a:t>
            </a:r>
            <a:br/>
            <a:r>
              <a:t>df.describe()  # Estatísticas descritivas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🔍  Exercício em Grupo — Analisando 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Calcule a correlação entre T_top e P_coluna:  df.corr()</a:t>
            </a:r>
          </a:p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Gere um gráfico de T_top ao longo do tempo:  df.plot()</a:t>
            </a:r>
          </a:p>
          <a:p>
            <a:pPr>
              <a:spcAft>
                <a:spcPts val="1000"/>
              </a:spcAft>
              <a:defRPr sz="2200">
                <a:solidFill>
                  <a:srgbClr val="CADCFC"/>
                </a:solidFill>
                <a:latin typeface="Calibri"/>
              </a:defRPr>
            </a:pPr>
            <a:r>
              <a:t>▸  Escreva 1 parágrafo: "O que aconteceu entre 14h e 16h?"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🧠  Desafio extra (NT): Se você quisesse estimar a composição do destilado</a:t>
            </a:r>
            <a:br/>
            <a:r>
              <a:t>a partir de T_top e P_coluna, que modelo simples usaria?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0352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5394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☐ import pandas  ☐ df.head()  ☐ df.describe()  ☐ identificou 1 correlação?  ☐ escreveu 1 observação?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 Pós-Aula: Meu Primeiro Mini-Relatório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um notebook no Google Colab com qualquer dataset de processo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Importe pandas, carregue o dataset, exiba head() e describe()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Gere 1 gráfico de uma variável ao longo do tempo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Escreva 3 bullet points de observações técnicas (em português)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Entregue via link do Colab — Prazo: antes da Aula 2 (7 dias)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  <a:latin typeface="Calibri"/>
              </a:defRPr>
            </a:pPr>
            <a:r>
              <a:t>Critérios de Avaliação: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22860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Código executa (30%)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4846320"/>
            <a:ext cx="22860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Estatísticas corretas (20%)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846320"/>
            <a:ext cx="22860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Gráfico com legendas (20%)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4846320"/>
            <a:ext cx="22860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Observações relevantes (30%)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Limpeza de dados — outliers, falhas de sensor e ruído. É aí que a diversão começa!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885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Vasconcelos</cp:lastModifiedBy>
  <cp:revision>3</cp:revision>
  <dcterms:created xsi:type="dcterms:W3CDTF">2013-01-27T09:14:16Z</dcterms:created>
  <dcterms:modified xsi:type="dcterms:W3CDTF">2026-09-11T16:54:59Z</dcterms:modified>
  <cp:category/>
</cp:coreProperties>
</file>