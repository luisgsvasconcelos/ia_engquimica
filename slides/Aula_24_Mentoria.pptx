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Checkpoint &amp;</a:t>
            </a:r>
            <a:br/>
            <a:r>
              <a:t>Mentoria do Projeto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0">
                <a:solidFill>
                  <a:srgbClr val="CADCFC"/>
                </a:solidFill>
                <a:latin typeface="Calibri"/>
              </a:defRPr>
            </a:pPr>
            <a:r>
              <a:t>Aula 24 - Dia de destravar o Projeto Integrador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93192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206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Calibri"/>
              </a:defRPr>
            </a:pPr>
            <a:r>
              <a:t>3 Etapas  •  Checklist  •  Rodadas de 10min  •  Plano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alibri"/>
              </a:defRPr>
            </a:pPr>
            <a:r>
              <a:t>Prof. [Seu Nome]  |  Duração: 100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761"/>
                </a:solidFill>
                <a:latin typeface="Calibri"/>
              </a:defRPr>
            </a:pPr>
            <a:r>
              <a:t>As 3 Etapas do Projeto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2011680"/>
            <a:ext cx="274320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011680"/>
            <a:ext cx="2743200" cy="45720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20574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Etapa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5603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761"/>
                </a:solidFill>
                <a:latin typeface="Calibri"/>
              </a:defRPr>
            </a:pPr>
            <a:r>
              <a:t>1. Proposta + EDA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3832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problema, dados, análise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4206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8636"/>
                </a:solidFill>
                <a:latin typeface="Calibri"/>
              </a:defRPr>
            </a:pPr>
            <a:r>
              <a:t>entregue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2011680"/>
            <a:ext cx="274320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2011680"/>
            <a:ext cx="2743200" cy="45720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0574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Etapa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5603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761"/>
                </a:solidFill>
                <a:latin typeface="Calibri"/>
              </a:defRPr>
            </a:pPr>
            <a:r>
              <a:t>2. Modelo + Relatório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3832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baseline, modelo, validação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4206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29922"/>
                </a:solidFill>
                <a:latin typeface="Calibri"/>
              </a:defRPr>
            </a:pPr>
            <a:r>
              <a:t>vence em breve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2011680"/>
            <a:ext cx="274320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0" y="2011680"/>
            <a:ext cx="2743200" cy="457200"/>
          </a:xfrm>
          <a:prstGeom prst="rect">
            <a:avLst/>
          </a:prstGeom>
          <a:solidFill>
            <a:srgbClr val="895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0" y="20574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Etapa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25603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761"/>
                </a:solidFill>
                <a:latin typeface="Calibri"/>
              </a:defRPr>
            </a:pPr>
            <a:r>
              <a:t>3. Apresentação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3832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Aulas 29-30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4206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8636"/>
                </a:solidFill>
                <a:latin typeface="Calibri"/>
              </a:defRPr>
            </a:pPr>
            <a:r>
              <a:t>final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761"/>
                </a:solidFill>
                <a:latin typeface="Calibri"/>
              </a:defRPr>
            </a:pPr>
            <a:r>
              <a:t>Cada equipe marca seu PIN no estágio atual.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371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949E"/>
                </a:solidFill>
                <a:latin typeface="Calibri"/>
              </a:defRPr>
            </a:pPr>
            <a:r>
              <a:t>Contrato da Mentoria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011680"/>
            <a:ext cx="8229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"O objetivo de hoje não é ver quem está</a:t>
            </a:r>
            <a:br/>
            <a:r>
              <a:t>adiantado — é descobrir o que está</a:t>
            </a:r>
            <a:br/>
            <a:r>
              <a:t>TRAVANDO cada equipe e destravar.</a:t>
            </a:r>
            <a:br/>
            <a:r>
              <a:t>Um projeto travado em DADOS é diferente</a:t>
            </a:r>
            <a:br/>
            <a:r>
              <a:t>de um travado em MODELO."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466344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5029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ADCFC"/>
                </a:solidFill>
                <a:latin typeface="Calibri"/>
              </a:defRPr>
            </a:pPr>
            <a:r>
              <a:t>Hoje vocês saem com PLANO, não com dúvida solta.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761"/>
                </a:solidFill>
                <a:latin typeface="Calibri"/>
              </a:defRPr>
            </a:pPr>
            <a:r>
              <a:t>Checklist de Diagnóstico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2011680"/>
            <a:ext cx="91440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2039112"/>
            <a:ext cx="832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1. Problema/target com sentido físico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011680"/>
            <a:ext cx="274320" cy="41148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2514600"/>
            <a:ext cx="91440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2542032"/>
            <a:ext cx="832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2. Dados ≥ 6 meses (ou justificado)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514600"/>
            <a:ext cx="274320" cy="41148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71600" y="3017520"/>
            <a:ext cx="91440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3044952"/>
            <a:ext cx="832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3. EDA e correlações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3017520"/>
            <a:ext cx="274320" cy="41148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71600" y="3520440"/>
            <a:ext cx="91440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3547872"/>
            <a:ext cx="832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4. Baseline (linear/média) com RMSE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3520440"/>
            <a:ext cx="274320" cy="41148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71600" y="4023360"/>
            <a:ext cx="91440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63040" y="4050792"/>
            <a:ext cx="832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5. Modelo principal treinado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4023360"/>
            <a:ext cx="274320" cy="41148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71600" y="4526280"/>
            <a:ext cx="91440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63040" y="4553712"/>
            <a:ext cx="832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6. Validação cruzada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4526280"/>
            <a:ext cx="274320" cy="41148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71600" y="5029200"/>
            <a:ext cx="91440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63040" y="5056632"/>
            <a:ext cx="832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7. Overfitting (treino≫teste)?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0" y="5029200"/>
            <a:ext cx="274320" cy="411480"/>
          </a:xfrm>
          <a:prstGeom prst="rect">
            <a:avLst/>
          </a:prstGeom>
          <a:solidFill>
            <a:srgbClr val="DA3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371600" y="5532120"/>
            <a:ext cx="91440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63040" y="5559552"/>
            <a:ext cx="832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8. Próximos passos claros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71600" y="5532120"/>
            <a:ext cx="274320" cy="411480"/>
          </a:xfrm>
          <a:prstGeom prst="rect">
            <a:avLst/>
          </a:prstGeom>
          <a:solidFill>
            <a:srgbClr val="DA3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Baseline e Overfitting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011680"/>
            <a:ext cx="4389120" cy="3108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2011680"/>
            <a:ext cx="4389120" cy="45720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05740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651760"/>
            <a:ext cx="4023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ADCFC"/>
                </a:solidFill>
                <a:latin typeface="Calibri"/>
              </a:defRPr>
            </a:pPr>
            <a:r>
              <a:t>• Média histórica RMSE 3,1%</a:t>
            </a:r>
            <a:br/>
            <a:br/>
            <a:r>
              <a:t>• XGBoost RMSE 1,8% → bom SE val. cruzada confirmar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011680"/>
            <a:ext cx="4389120" cy="3108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2011680"/>
            <a:ext cx="4389120" cy="457200"/>
          </a:xfrm>
          <a:prstGeom prst="rect">
            <a:avLst/>
          </a:prstGeom>
          <a:solidFill>
            <a:srgbClr val="DA3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05740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Overfitting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651760"/>
            <a:ext cx="4023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ADCFC"/>
                </a:solidFill>
                <a:latin typeface="Calibri"/>
              </a:defRPr>
            </a:pPr>
            <a:r>
              <a:t>• Treino RMSE 0,2%</a:t>
            </a:r>
            <a:br/>
            <a:br/>
            <a:r>
              <a:t>• Teste RMSE 3,9% → decorou o dataset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5486400"/>
            <a:ext cx="9144000" cy="6400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55778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38636"/>
                </a:solidFill>
                <a:latin typeface="Calibri"/>
              </a:defRPr>
            </a:pPr>
            <a:r>
              <a:t>Modelo ruim que derrota baseline fraco NÃO prova nada.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Rodada de Mentoria — 10 min/equipe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2103120"/>
            <a:ext cx="1371600" cy="7772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20240" y="22860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0-3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2240279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DCFC"/>
                </a:solidFill>
                <a:latin typeface="Calibri"/>
              </a:defRPr>
            </a:pPr>
            <a:r>
              <a:t>Equipe apresenta: problema, dados, baseline, modelo, dificuldade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3063239"/>
            <a:ext cx="1371600" cy="77724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20240" y="32461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3-6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3200399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DCFC"/>
                </a:solidFill>
                <a:latin typeface="Calibri"/>
              </a:defRPr>
            </a:pPr>
            <a:r>
              <a:t>Professor + mentores espelho: perguntas críticas e destravamento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4023360"/>
            <a:ext cx="1371600" cy="77724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20240" y="42062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6-8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41605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DCFC"/>
                </a:solidFill>
                <a:latin typeface="Calibri"/>
              </a:defRPr>
            </a:pPr>
            <a:r>
              <a:t>Professor consolida diagnóstico pela rubrica e define próximos passos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0" y="4983480"/>
            <a:ext cx="1371600" cy="777240"/>
          </a:xfrm>
          <a:prstGeom prst="rect">
            <a:avLst/>
          </a:prstGeom>
          <a:solidFill>
            <a:srgbClr val="895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20240" y="51663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8-10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51206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DCFC"/>
                </a:solidFill>
                <a:latin typeface="Calibri"/>
              </a:defRPr>
            </a:pPr>
            <a:r>
              <a:t>Reflexivo individual + registro do compromisso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6126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Calibri"/>
              </a:defRPr>
            </a:pPr>
            <a:r>
              <a:t>Mentores espelho: anotem 1 pergunta crítica + 1 sugestão.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761"/>
                </a:solidFill>
                <a:latin typeface="Calibri"/>
              </a:defRPr>
            </a:pPr>
            <a:r>
              <a:t>Agenda da Aula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2103120"/>
            <a:ext cx="1645920" cy="6400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2240279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2240279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Abertura + mapa das 3 Etapas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2880360"/>
            <a:ext cx="1645920" cy="6400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20240" y="30175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10-30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30175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Trabalho guiado: checklist de diagnóstico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3657600"/>
            <a:ext cx="1645920" cy="6400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0240" y="37947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30-80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794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Rodadas de mentoria (5×10 min)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4434840"/>
            <a:ext cx="1645920" cy="6400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20240" y="4572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80-90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45720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Discussão: dificuldades comuns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0" y="5212079"/>
            <a:ext cx="1645920" cy="6400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20240" y="53492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90-100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53492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Fechamento + tarefa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Dashboard de Progresso por Equipe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ADCFC"/>
                </a:solidFill>
                <a:latin typeface="Calibri"/>
              </a:defRPr>
            </a:pPr>
            <a:r>
              <a:t>Problema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0116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ADCFC"/>
                </a:solidFill>
                <a:latin typeface="Calibri"/>
              </a:defRPr>
            </a:pPr>
            <a:r>
              <a:t>Dados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0116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ADCFC"/>
                </a:solidFill>
                <a:latin typeface="Calibri"/>
              </a:defRPr>
            </a:pPr>
            <a:r>
              <a:t>EDA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0116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ADCFC"/>
                </a:solidFill>
                <a:latin typeface="Calibri"/>
              </a:defRPr>
            </a:pPr>
            <a:r>
              <a:t>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ADCFC"/>
                </a:solidFill>
                <a:latin typeface="Calibri"/>
              </a:defRPr>
            </a:pPr>
            <a:r>
              <a:t>Modelo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0116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ADCFC"/>
                </a:solidFill>
                <a:latin typeface="Calibri"/>
              </a:defRPr>
            </a:pPr>
            <a:r>
              <a:t>Validação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20116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ADCFC"/>
                </a:solidFill>
                <a:latin typeface="Calibri"/>
              </a:defRPr>
            </a:pPr>
            <a:r>
              <a:t>Overfit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20116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ADCFC"/>
                </a:solidFill>
                <a:latin typeface="Calibri"/>
              </a:defRPr>
            </a:pPr>
            <a:r>
              <a:t>Próximos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" y="24688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146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3863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25146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3863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5146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3863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5146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3863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5146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29922"/>
                </a:solidFill>
                <a:latin typeface="Calibri"/>
              </a:defRPr>
            </a:pPr>
            <a:r>
              <a:t>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5146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3863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5146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A3633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25146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29922"/>
                </a:solidFill>
                <a:latin typeface="Calibri"/>
              </a:defRPr>
            </a:pPr>
            <a:r>
              <a:t>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" y="30175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0632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3863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30632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29922"/>
                </a:solidFill>
                <a:latin typeface="Calibri"/>
              </a:defRPr>
            </a:pPr>
            <a:r>
              <a:t>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30632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3863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30632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3863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0632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3863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0632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3863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0632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29922"/>
                </a:solidFill>
                <a:latin typeface="Calibri"/>
              </a:defRPr>
            </a:pPr>
            <a:r>
              <a:t>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30632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29922"/>
                </a:solidFill>
                <a:latin typeface="Calibri"/>
              </a:defRPr>
            </a:pPr>
            <a:r>
              <a:t>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" y="35661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36118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3863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86000" y="36118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3863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0" y="36118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3863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0" y="36118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3863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36118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29922"/>
                </a:solidFill>
                <a:latin typeface="Calibri"/>
              </a:defRPr>
            </a:pPr>
            <a:r>
              <a:t>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36118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3863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36118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A3633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36118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29922"/>
                </a:solidFill>
                <a:latin typeface="Calibri"/>
              </a:defRPr>
            </a:pPr>
            <a:r>
              <a:t>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2880" y="4114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1605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3863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86000" y="41605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3863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0" y="41605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3863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0" y="41605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3863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41605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29922"/>
                </a:solidFill>
                <a:latin typeface="Calibri"/>
              </a:defRPr>
            </a:pPr>
            <a:r>
              <a:t>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0" y="41605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3863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0" y="41605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A3633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15600" y="41605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29922"/>
                </a:solidFill>
                <a:latin typeface="Calibri"/>
              </a:defRPr>
            </a:pPr>
            <a:r>
              <a:t>⚠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82880" y="46634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" y="47091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3863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286000" y="47091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3863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57600" y="47091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3863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0" y="47091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3863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0" y="47091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29922"/>
                </a:solidFill>
                <a:latin typeface="Calibri"/>
              </a:defRPr>
            </a:pPr>
            <a:r>
              <a:t>⚠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72400" y="47091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3863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44000" y="47091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A3633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515600" y="47091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29922"/>
                </a:solidFill>
                <a:latin typeface="Calibri"/>
              </a:defRPr>
            </a:pPr>
            <a:r>
              <a:t>⚠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371600" y="5852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Calibri"/>
              </a:defRPr>
            </a:pPr>
            <a:r>
              <a:t>Registrar estado ✓/⚠/✗ para reavaliação na Aula 29.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761"/>
                </a:solidFill>
                <a:latin typeface="Calibri"/>
              </a:defRPr>
            </a:pPr>
            <a:r>
              <a:t>Discussão + Destravamento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▸  Padrões que se repetem: dados sujos/insuficientes, baseline ausente, overfitting não diagnosticado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▸  Debate NT: LSTM vs XGBoost vs híbrido — onde está o limite de complexidade?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▸  Arquitetura alternativa melhora o RMSE da sua série temporal?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▸  Insight do projeto do outro → aplicar no seu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📋 Tarefa: Atualizar o Cronograma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CADCFC"/>
                </a:solidFill>
                <a:latin typeface="Calibri"/>
              </a:defRPr>
            </a:pPr>
            <a:r>
              <a:t>▸  Atualize o cronograma da Etapa 2 (marcos, responsáveis, prazos)</a:t>
            </a:r>
          </a:p>
          <a:p>
            <a:pPr>
              <a:spcAft>
                <a:spcPts val="1000"/>
              </a:spcAft>
              <a:defRPr sz="1700">
                <a:solidFill>
                  <a:srgbClr val="CADCFC"/>
                </a:solidFill>
                <a:latin typeface="Calibri"/>
              </a:defRPr>
            </a:pPr>
            <a:r>
              <a:t>▸  Anexe o checklist preenchido</a:t>
            </a:r>
          </a:p>
          <a:p>
            <a:pPr>
              <a:spcAft>
                <a:spcPts val="1000"/>
              </a:spcAft>
              <a:defRPr sz="1700">
                <a:solidFill>
                  <a:srgbClr val="CADCFC"/>
                </a:solidFill>
                <a:latin typeface="Calibri"/>
              </a:defRPr>
            </a:pPr>
            <a:r>
              <a:t>▸  Envie por email até o fim da semana</a:t>
            </a:r>
          </a:p>
          <a:p>
            <a:pPr>
              <a:spcAft>
                <a:spcPts val="1000"/>
              </a:spcAft>
              <a:defRPr sz="1700">
                <a:solidFill>
                  <a:srgbClr val="CADCFC"/>
                </a:solidFill>
                <a:latin typeface="Calibri"/>
              </a:defRPr>
            </a:pPr>
            <a:r>
              <a:t>▸  Trilha NT: compare arquitetura alternativa (RMSE validação cruzada)</a:t>
            </a:r>
          </a:p>
          <a:p>
            <a:pPr>
              <a:spcAft>
                <a:spcPts val="1000"/>
              </a:spcAft>
              <a:defRPr sz="1700">
                <a:solidFill>
                  <a:srgbClr val="CADCFC"/>
                </a:solidFill>
                <a:latin typeface="Calibri"/>
              </a:defRPr>
            </a:pPr>
            <a:r>
              <a:t>▸  Trilha SJ: revise o relatório contra roteiro estruturado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937760"/>
            <a:ext cx="9144000" cy="6400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502920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38636"/>
                </a:solidFill>
                <a:latin typeface="Calibri"/>
              </a:defRPr>
            </a:pPr>
            <a:r>
              <a:t>Reavaliação do checkpoint na Aula 29. Cada equipe sai com PLANO.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