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Consolidação dos</a:t>
            </a:r>
            <a:br/>
            <a:r>
              <a:t>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CADCFC"/>
                </a:solidFill>
                <a:latin typeface="Calibri"/>
              </a:defRPr>
            </a:pPr>
            <a:r>
              <a:t>Aula 27 - Do notebook ao relatório executivo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93192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Calibri"/>
              </a:defRPr>
            </a:pPr>
            <a:r>
              <a:t>Análise crítica  •  Resumo executivo  •  Relatório 6-8 p.  •  Slides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alibri"/>
              </a:defRPr>
            </a:pPr>
            <a:r>
              <a:t>Prof. [Seu Nome]  |  Duração: 100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761"/>
                </a:solidFill>
                <a:latin typeface="Calibri"/>
              </a:defRPr>
            </a:pPr>
            <a:r>
              <a:t>Ninguém Implementa o Que Não Entende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9202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O que acontece com um modelo excelente que NINGUÉM consegue entender?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2743200"/>
            <a:ext cx="438912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2743200"/>
            <a:ext cx="438912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278892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📊 Gráfico técnico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383280"/>
            <a:ext cx="4023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predicted vs real, denso, grid, legenda técnica</a:t>
            </a:r>
            <a:br/>
            <a:br/>
            <a:r>
              <a:t>Para o especialista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743200"/>
            <a:ext cx="438912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2743200"/>
            <a:ext cx="438912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78892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📈 Gráfico executivo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383280"/>
            <a:ext cx="4023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série temporal, predição destacada em cor, indicador de performance</a:t>
            </a:r>
            <a:br/>
            <a:br/>
            <a:r>
              <a:t>Convinha um gerente em 5s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5669280"/>
            <a:ext cx="9144000" cy="5486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ADCFC"/>
                </a:solidFill>
                <a:latin typeface="Calibri"/>
              </a:defRPr>
            </a:pPr>
            <a:r>
              <a:t>O relatório é a ponte entre sua análise e a decisão do gestor.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Mapa Conceitual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194560"/>
            <a:ext cx="1737360" cy="18288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26517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32918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ADCFC"/>
                </a:solidFill>
                <a:latin typeface="Calibri"/>
              </a:defRPr>
            </a:pPr>
            <a:r>
              <a:t>técnico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3392" y="30175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0" y="2194560"/>
            <a:ext cx="1737360" cy="18288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1720" y="26517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Métricas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32918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ADCFC"/>
                </a:solidFill>
                <a:latin typeface="Calibri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4005072" y="30175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2194560"/>
            <a:ext cx="1737360" cy="18288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26517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Gráficos</a:t>
            </a:r>
            <a:br/>
            <a:r>
              <a:t>Executivos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32918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ADCFC"/>
                </a:solidFill>
                <a:latin typeface="Calibri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016752" y="30175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2194560"/>
            <a:ext cx="1737360" cy="18288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26517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Resumo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2918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ADCFC"/>
                </a:solidFill>
                <a:latin typeface="Calibri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8028432" y="30175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21040" y="2194560"/>
            <a:ext cx="1737360" cy="182880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60" y="26517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Relatório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32918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ADCFC"/>
                </a:solidFill>
                <a:latin typeface="Calibri"/>
              </a:defRPr>
            </a:pPr>
            <a:r>
              <a:t>6-8 p.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40112" y="30175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332720" y="2194560"/>
            <a:ext cx="1737360" cy="182880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378440" y="26517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Slides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78440" y="32918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ADCFC"/>
                </a:solidFill>
                <a:latin typeface="Calibri"/>
              </a:defRPr>
            </a:pPr>
            <a:r>
              <a:t>A28/29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371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B949E"/>
                </a:solidFill>
                <a:latin typeface="Calibri"/>
              </a:defRPr>
            </a:pPr>
            <a:r>
              <a:t>Pergunta Desafio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01168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"O gestor pergunta: 'o modelo MELHOROU</a:t>
            </a:r>
            <a:br/>
            <a:r>
              <a:t>o rendimento ou só PREVIU melhor?'</a:t>
            </a:r>
            <a:br/>
            <a:r>
              <a:t>Como você mostra o VALOR entregue</a:t>
            </a:r>
            <a:br/>
            <a:r>
              <a:t>com os dados que já tem?"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45720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937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ADCFC"/>
                </a:solidFill>
                <a:latin typeface="Calibri"/>
              </a:defRPr>
            </a:pPr>
            <a:r>
              <a:t>Resposta: comparar linha de base vs modelo + estimar ganho econômico.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  <a:latin typeface="Calibri"/>
              </a:defRPr>
            </a:pPr>
            <a:r>
              <a:t>Autoavaliação Crítica (5 perguntas)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O modelo resolveu o problema de negócio?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As métricas são suficientes ou o leitor fica com dúvida?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Quais limitações precisam ser ditas com honestidade?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Qual é o 1 NÚMERO que resume o valor gerado?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Qual gráfico convence e qual é decorativo?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5303520"/>
            <a:ext cx="9144000" cy="640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53949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D29922"/>
                </a:solidFill>
                <a:latin typeface="Calibri"/>
              </a:defRPr>
            </a:pPr>
            <a:r>
              <a:t>Pausa: escreva a limitação MAIS honesta do seu modelo.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Resumo Executivo (meia página)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1. Problema em 1-2 frases</a:t>
            </a:r>
          </a:p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2. Abordagem em 1 frase</a:t>
            </a:r>
          </a:p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3. Resultado-chave com NÚMERO</a:t>
            </a:r>
          </a:p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4. Impacto no processo/negócio</a:t>
            </a:r>
          </a:p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5. Recomendação</a:t>
            </a:r>
          </a:p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Sem jargão, sem código, sem tabelas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  <a:latin typeface="Calibri"/>
              </a:defRPr>
            </a:pPr>
            <a:r>
              <a:t>Prática: Esboço do Relatório (45min)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011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1. Capa + resumo executivo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2651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2. Introdução e objetivo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32918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3. Dados e EDA (breve)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3931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4. Metodologia (2-3 p.)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45720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5. Resultados (tabela de métricas + gráfico executivo)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212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6. Conclusão e limitações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943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38636"/>
                </a:solidFill>
                <a:latin typeface="Calibri"/>
              </a:defRPr>
            </a:pPr>
            <a:r>
              <a:t>Meta: sair da aula com 50% do relatório rascunhado.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Regras do Gráfico Executivo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1 cor de destaque</a:t>
            </a:r>
          </a:p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Anotar o resultado-chave com seta/texto</a:t>
            </a:r>
          </a:p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Remover grid e legendas decorativas</a:t>
            </a:r>
          </a:p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Título em forma de conclusão: 'Rendimento subiu 7% com o modelo'</a:t>
            </a:r>
          </a:p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Máx. 1 gráfico por página nos slides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  <a:latin typeface="Calibri"/>
              </a:defRPr>
            </a:pPr>
            <a:r>
              <a:t>Rubrica do Relatório Executivo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2011680"/>
            <a:ext cx="9144000" cy="5486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2057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Critério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205740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Nota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560320"/>
            <a:ext cx="9144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26060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Resumo claro e quantificado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60604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2.0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3108960"/>
            <a:ext cx="9144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54480" y="31546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Gráficos executivos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31546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2.0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3657600"/>
            <a:ext cx="9144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54480" y="3703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Métricas + tabela comparativa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37033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2.0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4206240"/>
            <a:ext cx="9144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54480" y="4251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Análise crítica e limitações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425196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2.0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71600" y="4754880"/>
            <a:ext cx="9144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54480" y="48006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Estrutura 6-8 p. ABNT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480060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2.0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📋 Entregáveis e Prazos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Relatório executivo 6-8 páginas (ABNT) → Aula 28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Notebook .ipynb executável final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Slides 10-12 (1 gráfico executivo por ideia) → Aula 28/29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Ensaiar apresentação de 8 min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Slide de conclusão: 'o que o gestor faz com isso amanhã?'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5029200"/>
            <a:ext cx="9144000" cy="640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51206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38636"/>
                </a:solidFill>
                <a:latin typeface="Calibri"/>
              </a:defRPr>
            </a:pPr>
            <a:r>
              <a:t>Tratam a apresentação como reunião de diretoria de verdade.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